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5"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599" autoAdjust="0"/>
  </p:normalViewPr>
  <p:slideViewPr>
    <p:cSldViewPr snapToGrid="0" snapToObjects="1">
      <p:cViewPr varScale="1">
        <p:scale>
          <a:sx n="120" d="100"/>
          <a:sy n="120" d="100"/>
        </p:scale>
        <p:origin x="96"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Images</c:v>
                </c:pt>
              </c:strCache>
            </c:strRef>
          </c:tx>
          <c:spPr>
            <a:solidFill>
              <a:srgbClr val="2D6A4F"/>
            </a:solidFill>
            <a:effectLst/>
          </c:spPr>
          <c:invertIfNegative val="0"/>
          <c:dPt>
            <c:idx val="0"/>
            <c:invertIfNegative val="0"/>
            <c:bubble3D val="0"/>
            <c:extLst>
              <c:ext xmlns:c16="http://schemas.microsoft.com/office/drawing/2014/chart" uri="{C3380CC4-5D6E-409C-BE32-E72D297353CC}">
                <c16:uniqueId val="{00000001-F004-49AF-853D-C538AF8E1039}"/>
              </c:ext>
            </c:extLst>
          </c:dPt>
          <c:dPt>
            <c:idx val="1"/>
            <c:invertIfNegative val="0"/>
            <c:bubble3D val="0"/>
            <c:spPr>
              <a:solidFill>
                <a:srgbClr val="52B788"/>
              </a:solidFill>
              <a:effectLst/>
            </c:spPr>
            <c:extLst>
              <c:ext xmlns:c16="http://schemas.microsoft.com/office/drawing/2014/chart" uri="{C3380CC4-5D6E-409C-BE32-E72D297353CC}">
                <c16:uniqueId val="{00000003-F004-49AF-853D-C538AF8E1039}"/>
              </c:ext>
            </c:extLst>
          </c:dPt>
          <c:dPt>
            <c:idx val="2"/>
            <c:invertIfNegative val="0"/>
            <c:bubble3D val="0"/>
            <c:spPr>
              <a:solidFill>
                <a:srgbClr val="74C69D"/>
              </a:solidFill>
              <a:effectLst/>
            </c:spPr>
            <c:extLst>
              <c:ext xmlns:c16="http://schemas.microsoft.com/office/drawing/2014/chart" uri="{C3380CC4-5D6E-409C-BE32-E72D297353CC}">
                <c16:uniqueId val="{00000005-F004-49AF-853D-C538AF8E1039}"/>
              </c:ext>
            </c:extLst>
          </c:dPt>
          <c:dPt>
            <c:idx val="3"/>
            <c:invertIfNegative val="0"/>
            <c:bubble3D val="0"/>
            <c:spPr>
              <a:solidFill>
                <a:srgbClr val="C1121F"/>
              </a:solidFill>
              <a:effectLst/>
            </c:spPr>
            <c:extLst>
              <c:ext xmlns:c16="http://schemas.microsoft.com/office/drawing/2014/chart" uri="{C3380CC4-5D6E-409C-BE32-E72D297353CC}">
                <c16:uniqueId val="{00000007-F004-49AF-853D-C538AF8E1039}"/>
              </c:ext>
            </c:extLst>
          </c:dPt>
          <c:dPt>
            <c:idx val="4"/>
            <c:invertIfNegative val="0"/>
            <c:bubble3D val="0"/>
            <c:spPr>
              <a:solidFill>
                <a:srgbClr val="E63946"/>
              </a:solidFill>
              <a:effectLst/>
            </c:spPr>
            <c:extLst>
              <c:ext xmlns:c16="http://schemas.microsoft.com/office/drawing/2014/chart" uri="{C3380CC4-5D6E-409C-BE32-E72D297353CC}">
                <c16:uniqueId val="{00000009-F004-49AF-853D-C538AF8E1039}"/>
              </c:ext>
            </c:extLst>
          </c:dPt>
          <c:dPt>
            <c:idx val="5"/>
            <c:invertIfNegative val="0"/>
            <c:bubble3D val="0"/>
            <c:spPr>
              <a:solidFill>
                <a:srgbClr val="FF6B6B"/>
              </a:solidFill>
              <a:effectLst/>
            </c:spPr>
            <c:extLst>
              <c:ext xmlns:c16="http://schemas.microsoft.com/office/drawing/2014/chart" uri="{C3380CC4-5D6E-409C-BE32-E72D297353CC}">
                <c16:uniqueId val="{0000000B-F004-49AF-853D-C538AF8E1039}"/>
              </c:ext>
            </c:extLst>
          </c:dPt>
          <c:dLbls>
            <c:numFmt formatCode="#,##0" sourceLinked="0"/>
            <c:spPr>
              <a:noFill/>
              <a:ln>
                <a:noFill/>
              </a:ln>
              <a:effectLst/>
            </c:spPr>
            <c:txPr>
              <a:bodyPr/>
              <a:lstStyle/>
              <a:p>
                <a:pPr>
                  <a:defRPr sz="9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Fresh
Apple</c:v>
                </c:pt>
                <c:pt idx="1">
                  <c:v>Fresh
Banana</c:v>
                </c:pt>
                <c:pt idx="2">
                  <c:v>Fresh
Orange</c:v>
                </c:pt>
                <c:pt idx="3">
                  <c:v>Rotten
Apple</c:v>
                </c:pt>
                <c:pt idx="4">
                  <c:v>Rotten
Banana</c:v>
                </c:pt>
                <c:pt idx="5">
                  <c:v>Rotten
Orange</c:v>
                </c:pt>
              </c:strCache>
            </c:strRef>
          </c:cat>
          <c:val>
            <c:numRef>
              <c:f>Sheet1!$B$2:$B$7</c:f>
              <c:numCache>
                <c:formatCode>General</c:formatCode>
                <c:ptCount val="6"/>
                <c:pt idx="0">
                  <c:v>1693</c:v>
                </c:pt>
                <c:pt idx="1">
                  <c:v>1581</c:v>
                </c:pt>
                <c:pt idx="2">
                  <c:v>1466</c:v>
                </c:pt>
                <c:pt idx="3">
                  <c:v>2342</c:v>
                </c:pt>
                <c:pt idx="4">
                  <c:v>2224</c:v>
                </c:pt>
                <c:pt idx="5">
                  <c:v>1599</c:v>
                </c:pt>
              </c:numCache>
            </c:numRef>
          </c:val>
          <c:extLst>
            <c:ext xmlns:c16="http://schemas.microsoft.com/office/drawing/2014/chart" uri="{C3380CC4-5D6E-409C-BE32-E72D297353CC}">
              <c16:uniqueId val="{0000000C-F004-49AF-853D-C538AF8E1039}"/>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Accuracy %</c:v>
                </c:pt>
              </c:strCache>
            </c:strRef>
          </c:tx>
          <c:spPr>
            <a:solidFill>
              <a:srgbClr val="CCCCCC"/>
            </a:solidFill>
            <a:effectLst/>
          </c:spPr>
          <c:invertIfNegative val="0"/>
          <c:dPt>
            <c:idx val="0"/>
            <c:invertIfNegative val="0"/>
            <c:bubble3D val="0"/>
            <c:extLst>
              <c:ext xmlns:c16="http://schemas.microsoft.com/office/drawing/2014/chart" uri="{C3380CC4-5D6E-409C-BE32-E72D297353CC}">
                <c16:uniqueId val="{00000001-3700-4AB9-AA6C-3A2F8EC36338}"/>
              </c:ext>
            </c:extLst>
          </c:dPt>
          <c:dPt>
            <c:idx val="1"/>
            <c:invertIfNegative val="0"/>
            <c:bubble3D val="0"/>
            <c:extLst>
              <c:ext xmlns:c16="http://schemas.microsoft.com/office/drawing/2014/chart" uri="{C3380CC4-5D6E-409C-BE32-E72D297353CC}">
                <c16:uniqueId val="{00000003-3700-4AB9-AA6C-3A2F8EC36338}"/>
              </c:ext>
            </c:extLst>
          </c:dPt>
          <c:dPt>
            <c:idx val="2"/>
            <c:invertIfNegative val="0"/>
            <c:bubble3D val="0"/>
            <c:extLst>
              <c:ext xmlns:c16="http://schemas.microsoft.com/office/drawing/2014/chart" uri="{C3380CC4-5D6E-409C-BE32-E72D297353CC}">
                <c16:uniqueId val="{00000005-3700-4AB9-AA6C-3A2F8EC36338}"/>
              </c:ext>
            </c:extLst>
          </c:dPt>
          <c:dPt>
            <c:idx val="3"/>
            <c:invertIfNegative val="0"/>
            <c:bubble3D val="0"/>
            <c:spPr>
              <a:solidFill>
                <a:srgbClr val="2D6A4F"/>
              </a:solidFill>
              <a:effectLst/>
            </c:spPr>
            <c:extLst>
              <c:ext xmlns:c16="http://schemas.microsoft.com/office/drawing/2014/chart" uri="{C3380CC4-5D6E-409C-BE32-E72D297353CC}">
                <c16:uniqueId val="{00000007-3700-4AB9-AA6C-3A2F8EC36338}"/>
              </c:ext>
            </c:extLst>
          </c:dPt>
          <c:dLbls>
            <c:numFmt formatCode="#,##0" sourceLinked="0"/>
            <c:spPr>
              <a:noFill/>
              <a:ln>
                <a:noFill/>
              </a:ln>
              <a:effectLst/>
            </c:spPr>
            <c:txPr>
              <a:bodyPr/>
              <a:lstStyle/>
              <a:p>
                <a:pPr>
                  <a:defRPr sz="11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Basic CNN</c:v>
                </c:pt>
                <c:pt idx="1">
                  <c:v>SVM + HOG</c:v>
                </c:pt>
                <c:pt idx="2">
                  <c:v>VGG16</c:v>
                </c:pt>
                <c:pt idx="3">
                  <c:v>MobileNetV2
(Ours)</c:v>
                </c:pt>
              </c:strCache>
            </c:strRef>
          </c:cat>
          <c:val>
            <c:numRef>
              <c:f>Sheet1!$B$2:$B$5</c:f>
              <c:numCache>
                <c:formatCode>General</c:formatCode>
                <c:ptCount val="4"/>
                <c:pt idx="0">
                  <c:v>75</c:v>
                </c:pt>
                <c:pt idx="1">
                  <c:v>65</c:v>
                </c:pt>
                <c:pt idx="2">
                  <c:v>93</c:v>
                </c:pt>
                <c:pt idx="3">
                  <c:v>95</c:v>
                </c:pt>
              </c:numCache>
            </c:numRef>
          </c:val>
          <c:extLst>
            <c:ext xmlns:c16="http://schemas.microsoft.com/office/drawing/2014/chart" uri="{C3380CC4-5D6E-409C-BE32-E72D297353CC}">
              <c16:uniqueId val="{00000008-3700-4AB9-AA6C-3A2F8EC36338}"/>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EEE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AFA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4820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Ma'am/Sir. My name is Anushka Marcelo, MCA Part 1 Semester 2. My project is titled </a:t>
            </a:r>
            <a:r>
              <a:rPr lang="en-US" b="1" dirty="0"/>
              <a:t>Fresh Fruit Detection Using Transfer Learning</a:t>
            </a:r>
            <a:r>
              <a:rPr lang="en-US" dirty="0"/>
              <a:t>. The basic idea is — can a computer look at a photo of a fruit and tell us whether it is fresh or rotten? That is exactly what I have built."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did I choose this topic? Think about a big supermarket or a fruit warehouse. They receive thousands of fruits every single day. Someone has to check each fruit manually — is it fresh? Is it rotten? This is very slow, very tiring, and different people judge differently. One person might say a fruit is okay, another might say it is rotten. There is no consistency. Also, if one rotten fruit is missed, it can spoil the fruits around it. So I wanted to solve this using AI.“</a:t>
            </a:r>
            <a:br>
              <a:rPr lang="en-US" dirty="0"/>
            </a:br>
            <a:br>
              <a:rPr lang="en-US" dirty="0"/>
            </a:br>
            <a:r>
              <a:rPr lang="en-US" dirty="0"/>
              <a:t>"My main objectives were — first, build a model that can automatically classify fruits as fresh or rotten. Second, use Transfer Learning so I don't need to train from scratch. Third, evaluate the model properly using standard metrics. And fourth, build a web application to demonstrate it in real time. I wanted this to be a complete end to end project — not just code but also a working demo."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dataset, I used the Fruits Fresh and Rotten for Classification dataset from Kaggle. It has around 13,000 images divided into 6 classes — fresh apple, fresh banana, fresh orange, and their rotten versions. I downloaded this directly into Google </a:t>
            </a:r>
            <a:r>
              <a:rPr lang="en-US" dirty="0" err="1"/>
              <a:t>Colab</a:t>
            </a:r>
            <a:r>
              <a:rPr lang="en-US" dirty="0"/>
              <a:t> using the Kaggle API. The images are already labeled so I didn't have to manually tag anything.“</a:t>
            </a:r>
          </a:p>
          <a:p>
            <a:endParaRPr lang="en-US" dirty="0"/>
          </a:p>
          <a:p>
            <a:r>
              <a:rPr lang="en-US" dirty="0"/>
              <a:t>"Before feeding images to the model, I did some preprocessing. First, I normalized all pixel values from 0-255 to 0-1, which helps the model learn faster. Second, I resized all images to 224 by 224 pixels because that is what MobileNetV2 expects as input. Third, I split the training data — 80% for training and 20% for validation."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applied something called Data Augmentation. Basically I took the existing images and created modified versions of them — rotating them, flipping them, zooming in, shifting them slightly. Why? Because in real life, a fruit photo might be taken from different angles or distances. Augmentation teaches the model to handle these variations. It also increases the effective size of our dataset without collecting new images.“</a:t>
            </a:r>
          </a:p>
          <a:p>
            <a:endParaRPr lang="en-US" dirty="0"/>
          </a:p>
          <a:p>
            <a:r>
              <a:rPr lang="en-US" dirty="0"/>
              <a:t>"Now the most important part — the model. I used MobileNetV2 with Transfer Learning. Let me explain what this means. MobileNetV2 is a deep learning model that was already trained on 1.4 million images from a dataset called ImageNet. It already knows how to detect edges, colors, textures and shapes. I took this pre-trained model, froze its weights so they don't change, and added my own classification layers on top. So instead of teaching the model everything from scratch, I just taught it the difference between fresh and rotten fruits. This is Transfer Learning — using existing knowledge for a new task."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trained the model on Google </a:t>
            </a:r>
            <a:r>
              <a:rPr lang="en-US" dirty="0" err="1"/>
              <a:t>Colab</a:t>
            </a:r>
            <a:r>
              <a:rPr lang="en-US" dirty="0"/>
              <a:t> using a free T4 GPU. I used the Adam optimizer with a learning rate of 0.0001 and Categorical Cross-Entropy as the loss function. I also used three smart callbacks — </a:t>
            </a:r>
            <a:r>
              <a:rPr lang="en-US" dirty="0" err="1"/>
              <a:t>EarlyStopping</a:t>
            </a:r>
            <a:r>
              <a:rPr lang="en-US" dirty="0"/>
              <a:t> which automatically stops training if the model stops improving, </a:t>
            </a:r>
            <a:r>
              <a:rPr lang="en-US" dirty="0" err="1"/>
              <a:t>ReduceLROnPlateau</a:t>
            </a:r>
            <a:r>
              <a:rPr lang="en-US" dirty="0"/>
              <a:t> which reduces the learning rate when it hits a plateau, and </a:t>
            </a:r>
            <a:r>
              <a:rPr lang="en-US" dirty="0" err="1"/>
              <a:t>ModelCheckpoint</a:t>
            </a:r>
            <a:r>
              <a:rPr lang="en-US" dirty="0"/>
              <a:t> which saves the best version of the model automatically.“</a:t>
            </a: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were very good. The model achieved around 95% accuracy on the test set. Looking at the confusion matrix, most fruits were correctly classified. The training and validation accuracy curves show that the model learned steadily without overfitting — the two curves stay close together which is a good sign. The classification report shows high precision, recall and F1-score across all 6 classes."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advantage of the web app over the </a:t>
            </a:r>
            <a:r>
              <a:rPr lang="en-US" dirty="0" err="1"/>
              <a:t>Colab</a:t>
            </a:r>
            <a:r>
              <a:rPr lang="en-US" dirty="0"/>
              <a:t> model is that it can detect ANY fruit — not just apples, bananas and oranges. So if you upload a mango or grapes photo, it will still correctly identify and assess the freshness. This is because the web app uses a more powerful AI vision model.“</a:t>
            </a: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future improvements, I would like to convert the model to TensorFlow Lite for mobile app deployment. I would also like to add more fruit types, detect ripeness stages not just fresh or rotten, and use YOLO for detecting multiple fruits in a single image. Eventually this could be deployed as a REST API for use in retail and warehouse management systems."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an automated fruit freshness detection system using Transfer Learning with MobileNetV2. It achieves around 95% accuracy on the test set. The project covers the complete machine learning pipeline from data collection, preprocessing, model training, evaluation, to web deployment.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13259" y="457201"/>
            <a:ext cx="6507167" cy="2400300"/>
          </a:xfrm>
        </p:spPr>
        <p:txBody>
          <a:bodyPr anchor="b">
            <a:normAutofit/>
          </a:bodyPr>
          <a:lstStyle>
            <a:lvl1pPr algn="ctr">
              <a:defRPr sz="36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313259" y="2914650"/>
            <a:ext cx="6507167" cy="1428750"/>
          </a:xfrm>
        </p:spPr>
        <p:txBody>
          <a:bodyPr anchor="t">
            <a:normAutofit/>
          </a:bodyPr>
          <a:lstStyle>
            <a:lvl1pPr marL="0" indent="0" algn="ctr">
              <a:buNone/>
              <a:defRPr sz="1575">
                <a:gradFill flip="none" rotWithShape="1">
                  <a:gsLst>
                    <a:gs pos="0">
                      <a:schemeClr val="tx1"/>
                    </a:gs>
                    <a:gs pos="100000">
                      <a:schemeClr val="tx1">
                        <a:lumMod val="75000"/>
                      </a:schemeClr>
                    </a:gs>
                  </a:gsLst>
                  <a:lin ang="5400000" scaled="0"/>
                  <a:tileRect/>
                </a:gra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6769193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0619732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13260" y="2481436"/>
            <a:ext cx="6515100" cy="1101600"/>
          </a:xfrm>
        </p:spPr>
        <p:txBody>
          <a:bodyPr anchor="b"/>
          <a:lstStyle>
            <a:lvl1pPr algn="r">
              <a:defRPr sz="3000" b="0" cap="all"/>
            </a:lvl1pPr>
          </a:lstStyle>
          <a:p>
            <a:r>
              <a:rPr lang="en-US"/>
              <a:t>Click to edit Master title style</a:t>
            </a:r>
            <a:endParaRPr lang="en-US" dirty="0"/>
          </a:p>
        </p:txBody>
      </p:sp>
      <p:sp>
        <p:nvSpPr>
          <p:cNvPr id="3" name="Text Placeholder 2"/>
          <p:cNvSpPr>
            <a:spLocks noGrp="1"/>
          </p:cNvSpPr>
          <p:nvPr>
            <p:ph type="body" idx="1"/>
          </p:nvPr>
        </p:nvSpPr>
        <p:spPr>
          <a:xfrm>
            <a:off x="1313259" y="3583036"/>
            <a:ext cx="6515101" cy="645300"/>
          </a:xfrm>
        </p:spPr>
        <p:txBody>
          <a:bodyPr anchor="t">
            <a:normAutofit/>
          </a:bodyPr>
          <a:lstStyle>
            <a:lvl1pPr marL="0" indent="0" algn="r">
              <a:buNone/>
              <a:defRPr sz="1500">
                <a:gradFill flip="none" rotWithShape="1">
                  <a:gsLst>
                    <a:gs pos="0">
                      <a:schemeClr val="tx1"/>
                    </a:gs>
                    <a:gs pos="100000">
                      <a:schemeClr val="tx1">
                        <a:lumMod val="75000"/>
                      </a:schemeClr>
                    </a:gs>
                  </a:gsLst>
                  <a:lin ang="5400000" scaled="0"/>
                  <a:tileRect/>
                </a:gra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9573060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6059" y="2000250"/>
            <a:ext cx="3657600" cy="2343151"/>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7959" y="2000250"/>
            <a:ext cx="3657600" cy="2343150"/>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83885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71961" y="1993900"/>
            <a:ext cx="3441698" cy="432197"/>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56059" y="2432447"/>
            <a:ext cx="3657600" cy="1910953"/>
          </a:xfrm>
        </p:spPr>
        <p:txBody>
          <a:bodyPr anchor="t">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32350" y="2000250"/>
            <a:ext cx="3453210" cy="432197"/>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7959" y="2432447"/>
            <a:ext cx="3657601" cy="1910953"/>
          </a:xfrm>
        </p:spPr>
        <p:txBody>
          <a:bodyPr anchor="t">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71663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8314801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2125684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9" y="1200150"/>
            <a:ext cx="2661841" cy="1028700"/>
          </a:xfrm>
        </p:spPr>
        <p:txBody>
          <a:bodyPr anchor="b">
            <a:normAutofit/>
          </a:bodyPr>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827859" y="457201"/>
            <a:ext cx="4457701" cy="38862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6059" y="2228850"/>
            <a:ext cx="2661841" cy="1371600"/>
          </a:xfrm>
        </p:spPr>
        <p:txBody>
          <a:bodyPr>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2327222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9" y="1200150"/>
            <a:ext cx="4000501" cy="1028700"/>
          </a:xfrm>
        </p:spPr>
        <p:txBody>
          <a:bodyPr anchor="b">
            <a:normAutofit/>
          </a:bodyPr>
          <a:lstStyle>
            <a:lvl1pPr algn="l">
              <a:defRPr sz="21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575300" y="-13716"/>
            <a:ext cx="2457449" cy="517779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56059" y="2228850"/>
            <a:ext cx="4000501" cy="1371600"/>
          </a:xfrm>
        </p:spPr>
        <p:txBody>
          <a:bodyP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799409" y="4412457"/>
            <a:ext cx="685800" cy="273844"/>
          </a:xfrm>
        </p:spPr>
        <p:txBody>
          <a:bodyPr/>
          <a:lstStyle/>
          <a:p>
            <a:fld id="{B61BEF0D-F0BB-DE4B-95CE-6DB70DBA9567}" type="datetimeFigureOut">
              <a:rPr lang="en-US" smtClean="0"/>
              <a:pPr/>
              <a:t>4/30/2026</a:t>
            </a:fld>
            <a:endParaRPr lang="en-US" dirty="0"/>
          </a:p>
        </p:txBody>
      </p:sp>
      <p:sp>
        <p:nvSpPr>
          <p:cNvPr id="6" name="Footer Placeholder 5"/>
          <p:cNvSpPr>
            <a:spLocks noGrp="1"/>
          </p:cNvSpPr>
          <p:nvPr>
            <p:ph type="ftr" sz="quarter" idx="11"/>
          </p:nvPr>
        </p:nvSpPr>
        <p:spPr>
          <a:xfrm>
            <a:off x="856059" y="4412457"/>
            <a:ext cx="3829050" cy="273844"/>
          </a:xfrm>
        </p:spPr>
        <p:txBody>
          <a:bodyPr/>
          <a:lstStyle/>
          <a:p>
            <a:endParaRPr lang="en-US" dirty="0"/>
          </a:p>
        </p:txBody>
      </p:sp>
      <p:sp>
        <p:nvSpPr>
          <p:cNvPr id="7" name="Slide Number Placeholder 6"/>
          <p:cNvSpPr>
            <a:spLocks noGrp="1"/>
          </p:cNvSpPr>
          <p:nvPr>
            <p:ph type="sldNum" sz="quarter" idx="12"/>
          </p:nvPr>
        </p:nvSpPr>
        <p:spPr>
          <a:xfrm>
            <a:off x="8056960" y="4412457"/>
            <a:ext cx="241925" cy="273844"/>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0990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0" y="3549649"/>
            <a:ext cx="7429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484709" y="699084"/>
            <a:ext cx="6169458" cy="2373732"/>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56060" y="3974702"/>
            <a:ext cx="7429500" cy="370284"/>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1250644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0" y="457201"/>
            <a:ext cx="7429499" cy="2343149"/>
          </a:xfrm>
        </p:spPr>
        <p:txBody>
          <a:bodyPr anchor="ctr">
            <a:normAutofit/>
          </a:bodyPr>
          <a:lstStyle>
            <a:lvl1pPr algn="l">
              <a:defRPr sz="2400" b="0" cap="all"/>
            </a:lvl1pPr>
          </a:lstStyle>
          <a:p>
            <a:r>
              <a:rPr lang="en-US"/>
              <a:t>Click to edit Master title style</a:t>
            </a:r>
            <a:endParaRPr lang="en-US" dirty="0"/>
          </a:p>
        </p:txBody>
      </p:sp>
      <p:sp>
        <p:nvSpPr>
          <p:cNvPr id="3" name="Text Placeholder 2"/>
          <p:cNvSpPr>
            <a:spLocks noGrp="1"/>
          </p:cNvSpPr>
          <p:nvPr>
            <p:ph type="body" idx="1"/>
          </p:nvPr>
        </p:nvSpPr>
        <p:spPr>
          <a:xfrm>
            <a:off x="856058" y="3257550"/>
            <a:ext cx="7429500" cy="1085850"/>
          </a:xfrm>
        </p:spPr>
        <p:txBody>
          <a:bodyPr anchor="ctr">
            <a:normAutofit/>
          </a:bodyPr>
          <a:lstStyle>
            <a:lvl1pPr marL="0" indent="0" algn="l">
              <a:buNone/>
              <a:defRPr sz="1500">
                <a:gradFill flip="none" rotWithShape="1">
                  <a:gsLst>
                    <a:gs pos="0">
                      <a:schemeClr val="tx1"/>
                    </a:gs>
                    <a:gs pos="100000">
                      <a:schemeClr val="tx1">
                        <a:lumMod val="75000"/>
                      </a:schemeClr>
                    </a:gs>
                  </a:gsLst>
                  <a:lin ang="5400000" scaled="0"/>
                  <a:tileRect/>
                </a:gra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3696976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627459" y="590118"/>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accent1"/>
                </a:solidFill>
              </a:rPr>
              <a:t>“</a:t>
            </a:r>
          </a:p>
        </p:txBody>
      </p:sp>
      <p:sp>
        <p:nvSpPr>
          <p:cNvPr id="15" name="TextBox 14"/>
          <p:cNvSpPr txBox="1"/>
          <p:nvPr/>
        </p:nvSpPr>
        <p:spPr>
          <a:xfrm>
            <a:off x="7828359"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accent1"/>
                </a:solidFill>
              </a:rPr>
              <a:t>”</a:t>
            </a:r>
          </a:p>
        </p:txBody>
      </p:sp>
      <p:sp>
        <p:nvSpPr>
          <p:cNvPr id="2" name="Title 1"/>
          <p:cNvSpPr>
            <a:spLocks noGrp="1"/>
          </p:cNvSpPr>
          <p:nvPr>
            <p:ph type="title"/>
          </p:nvPr>
        </p:nvSpPr>
        <p:spPr>
          <a:xfrm>
            <a:off x="1084660" y="457201"/>
            <a:ext cx="6972299" cy="2057399"/>
          </a:xfrm>
        </p:spPr>
        <p:txBody>
          <a:bodyPr anchor="ctr">
            <a:normAutofit/>
          </a:bodyPr>
          <a:lstStyle>
            <a:lvl1pPr algn="l">
              <a:defRPr sz="24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256109" y="2514600"/>
            <a:ext cx="6629402" cy="28575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856058" y="3257550"/>
            <a:ext cx="7429500" cy="1085850"/>
          </a:xfrm>
        </p:spPr>
        <p:txBody>
          <a:bodyPr vert="horz" lIns="91440" tIns="45720" rIns="91440" bIns="45720" rtlCol="0" anchor="ctr">
            <a:normAutofit/>
          </a:bodyPr>
          <a:lstStyle>
            <a:lvl1pPr>
              <a:buNone/>
              <a:defRPr lang="en-US" sz="15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8869029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9" y="2481436"/>
            <a:ext cx="7429500" cy="1101600"/>
          </a:xfrm>
        </p:spPr>
        <p:txBody>
          <a:bodyPr anchor="b">
            <a:normAutofit/>
          </a:bodyPr>
          <a:lstStyle>
            <a:lvl1pPr algn="l">
              <a:defRPr sz="2400" b="0" cap="all"/>
            </a:lvl1pPr>
          </a:lstStyle>
          <a:p>
            <a:r>
              <a:rPr lang="en-US"/>
              <a:t>Click to edit Master title style</a:t>
            </a:r>
            <a:endParaRPr lang="en-US" dirty="0"/>
          </a:p>
        </p:txBody>
      </p:sp>
      <p:sp>
        <p:nvSpPr>
          <p:cNvPr id="3" name="Text Placeholder 2"/>
          <p:cNvSpPr>
            <a:spLocks noGrp="1"/>
          </p:cNvSpPr>
          <p:nvPr>
            <p:ph type="body" idx="1"/>
          </p:nvPr>
        </p:nvSpPr>
        <p:spPr>
          <a:xfrm>
            <a:off x="856058" y="3583036"/>
            <a:ext cx="7429501" cy="645300"/>
          </a:xfrm>
        </p:spPr>
        <p:txBody>
          <a:bodyPr vert="horz" lIns="91440" tIns="45720" rIns="91440" bIns="45720" rtlCol="0" anchor="t">
            <a:normAutofit/>
          </a:bodyPr>
          <a:lstStyle>
            <a:lvl1pPr>
              <a:defRPr lang="en-US" sz="15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1470984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627459" y="590118"/>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accent1"/>
                </a:solidFill>
              </a:rPr>
              <a:t>“</a:t>
            </a:r>
          </a:p>
        </p:txBody>
      </p:sp>
      <p:sp>
        <p:nvSpPr>
          <p:cNvPr id="15" name="TextBox 14"/>
          <p:cNvSpPr txBox="1"/>
          <p:nvPr/>
        </p:nvSpPr>
        <p:spPr>
          <a:xfrm>
            <a:off x="7828359"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accent1"/>
                </a:solidFill>
              </a:rPr>
              <a:t>”</a:t>
            </a:r>
          </a:p>
        </p:txBody>
      </p:sp>
      <p:sp>
        <p:nvSpPr>
          <p:cNvPr id="2" name="Title 1"/>
          <p:cNvSpPr>
            <a:spLocks noGrp="1"/>
          </p:cNvSpPr>
          <p:nvPr>
            <p:ph type="title"/>
          </p:nvPr>
        </p:nvSpPr>
        <p:spPr>
          <a:xfrm>
            <a:off x="1084660" y="457201"/>
            <a:ext cx="6972299" cy="2057399"/>
          </a:xfrm>
        </p:spPr>
        <p:txBody>
          <a:bodyPr anchor="ctr">
            <a:normAutofit/>
          </a:bodyPr>
          <a:lstStyle>
            <a:lvl1pPr algn="l">
              <a:defRPr sz="24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856059" y="2914650"/>
            <a:ext cx="7429500" cy="666750"/>
          </a:xfrm>
        </p:spPr>
        <p:txBody>
          <a:bodyPr vert="horz" lIns="91440" tIns="45720" rIns="91440" bIns="45720" rtlCol="0" anchor="b">
            <a:normAutofit/>
          </a:bodyPr>
          <a:lstStyle>
            <a:lvl1pPr>
              <a:buNone/>
              <a:defRPr lang="en-US" sz="1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56058" y="3581400"/>
            <a:ext cx="7429500" cy="762000"/>
          </a:xfrm>
        </p:spPr>
        <p:txBody>
          <a:bodyPr anchor="t">
            <a:normAutofit/>
          </a:bodyPr>
          <a:lstStyle>
            <a:lvl1pPr marL="0" indent="0" algn="l">
              <a:buNone/>
              <a:defRPr sz="1350">
                <a:gradFill flip="none" rotWithShape="1">
                  <a:gsLst>
                    <a:gs pos="0">
                      <a:schemeClr val="tx1"/>
                    </a:gs>
                    <a:gs pos="100000">
                      <a:schemeClr val="tx1">
                        <a:lumMod val="75000"/>
                      </a:schemeClr>
                    </a:gs>
                  </a:gsLst>
                  <a:lin ang="5400000" scaled="0"/>
                  <a:tileRect/>
                </a:gra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8078005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56060" y="457201"/>
            <a:ext cx="7429499" cy="20573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856059" y="2628900"/>
            <a:ext cx="7429500" cy="628650"/>
          </a:xfrm>
        </p:spPr>
        <p:txBody>
          <a:bodyPr vert="horz" lIns="91440" tIns="45720" rIns="91440" bIns="45720" rtlCol="0" anchor="b">
            <a:normAutofit/>
          </a:bodyPr>
          <a:lstStyle>
            <a:lvl1pPr>
              <a:buNone/>
              <a:defRPr lang="en-US" sz="21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56058" y="3257550"/>
            <a:ext cx="7429500" cy="1085850"/>
          </a:xfrm>
        </p:spPr>
        <p:txBody>
          <a:bodyPr anchor="t">
            <a:normAutofit/>
          </a:bodyPr>
          <a:lstStyle>
            <a:lvl1pPr marL="0" indent="0" algn="l">
              <a:buNone/>
              <a:defRPr sz="1350">
                <a:gradFill flip="none" rotWithShape="1">
                  <a:gsLst>
                    <a:gs pos="0">
                      <a:schemeClr val="tx1"/>
                    </a:gs>
                    <a:gs pos="100000">
                      <a:schemeClr val="tx1">
                        <a:lumMod val="75000"/>
                      </a:schemeClr>
                    </a:gs>
                  </a:gsLst>
                  <a:lin ang="5400000" scaled="0"/>
                  <a:tileRect/>
                </a:gra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1994843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856060" y="457200"/>
            <a:ext cx="7429499" cy="14287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4230979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7673" y="457200"/>
            <a:ext cx="1657886" cy="38862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6059" y="457200"/>
            <a:ext cx="5657850" cy="38862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503382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6677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56060" y="457200"/>
            <a:ext cx="7429499" cy="14287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56060" y="2000250"/>
            <a:ext cx="7429499" cy="234315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628209" y="4412457"/>
            <a:ext cx="1200150" cy="273844"/>
          </a:xfrm>
          <a:prstGeom prst="rect">
            <a:avLst/>
          </a:prstGeom>
        </p:spPr>
        <p:txBody>
          <a:bodyPr vert="horz" lIns="91440" tIns="45720" rIns="91440" bIns="45720" rtlCol="0" anchor="ctr"/>
          <a:lstStyle>
            <a:lvl1pPr algn="r">
              <a:defRPr sz="675"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smtClean="0"/>
              <a:pPr/>
              <a:t>4/30/2026</a:t>
            </a:fld>
            <a:endParaRPr lang="en-US" dirty="0"/>
          </a:p>
        </p:txBody>
      </p:sp>
      <p:sp>
        <p:nvSpPr>
          <p:cNvPr id="5" name="Footer Placeholder 4"/>
          <p:cNvSpPr>
            <a:spLocks noGrp="1"/>
          </p:cNvSpPr>
          <p:nvPr>
            <p:ph type="ftr" sz="quarter" idx="3"/>
          </p:nvPr>
        </p:nvSpPr>
        <p:spPr>
          <a:xfrm>
            <a:off x="856059" y="4412457"/>
            <a:ext cx="5657850" cy="273844"/>
          </a:xfrm>
          <a:prstGeom prst="rect">
            <a:avLst/>
          </a:prstGeom>
        </p:spPr>
        <p:txBody>
          <a:bodyPr vert="horz" lIns="91440" tIns="45720" rIns="91440" bIns="45720" rtlCol="0" anchor="ctr"/>
          <a:lstStyle>
            <a:lvl1pPr algn="l">
              <a:defRPr sz="675"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7885510" y="4412457"/>
            <a:ext cx="413375" cy="273844"/>
          </a:xfrm>
          <a:prstGeom prst="rect">
            <a:avLst/>
          </a:prstGeom>
        </p:spPr>
        <p:txBody>
          <a:bodyPr vert="horz" lIns="91440" tIns="45720" rIns="91440" bIns="45720" rtlCol="0" anchor="ctr"/>
          <a:lstStyle>
            <a:lvl1pPr algn="r">
              <a:defRPr sz="675"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09749719"/>
      </p:ext>
    </p:extLst>
  </p:cSld>
  <p:clrMap bg1="dk1" tx1="lt1" bg2="dk2" tx2="lt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 id="2147483807" r:id="rId12"/>
    <p:sldLayoutId id="2147483808" r:id="rId13"/>
    <p:sldLayoutId id="2147483809" r:id="rId14"/>
    <p:sldLayoutId id="2147483810" r:id="rId15"/>
    <p:sldLayoutId id="2147483811" r:id="rId16"/>
    <p:sldLayoutId id="2147483812" r:id="rId17"/>
    <p:sldLayoutId id="2147483813" r:id="rId18"/>
  </p:sldLayoutIdLst>
  <p:hf sldNum="0" hdr="0" ftr="0" dt="0"/>
  <p:txStyles>
    <p:titleStyle>
      <a:lvl1pPr algn="l" defTabSz="342900" rtl="0" eaLnBrk="1" latinLnBrk="0" hangingPunct="1">
        <a:spcBef>
          <a:spcPct val="0"/>
        </a:spcBef>
        <a:buNone/>
        <a:defRPr sz="24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tx1"/>
        </a:buClr>
        <a:buSzPct val="100000"/>
        <a:buFont typeface="Arial"/>
        <a:buChar char="•"/>
        <a:defRPr sz="15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557213" indent="-214313" algn="l" defTabSz="342900" rtl="0" eaLnBrk="1" latinLnBrk="0" hangingPunct="1">
        <a:spcBef>
          <a:spcPct val="20000"/>
        </a:spcBef>
        <a:spcAft>
          <a:spcPts val="450"/>
        </a:spcAft>
        <a:buClr>
          <a:schemeClr val="tx1"/>
        </a:buClr>
        <a:buSzPct val="100000"/>
        <a:buFont typeface="Arial"/>
        <a:buChar char="•"/>
        <a:defRPr sz="135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900113" indent="-214313" algn="l" defTabSz="342900" rtl="0" eaLnBrk="1" latinLnBrk="0" hangingPunct="1">
        <a:spcBef>
          <a:spcPct val="20000"/>
        </a:spcBef>
        <a:spcAft>
          <a:spcPts val="45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157288" indent="-128588" algn="l" defTabSz="342900" rtl="0" eaLnBrk="1" latinLnBrk="0" hangingPunct="1">
        <a:spcBef>
          <a:spcPct val="20000"/>
        </a:spcBef>
        <a:spcAft>
          <a:spcPts val="450"/>
        </a:spcAft>
        <a:buClr>
          <a:schemeClr val="tx1"/>
        </a:buClr>
        <a:buSzPct val="100000"/>
        <a:buFont typeface="Arial"/>
        <a:buChar char="•"/>
        <a:defRPr sz="105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1500188" indent="-128588" algn="l" defTabSz="342900" rtl="0" eaLnBrk="1" latinLnBrk="0" hangingPunct="1">
        <a:spcBef>
          <a:spcPct val="20000"/>
        </a:spcBef>
        <a:spcAft>
          <a:spcPts val="450"/>
        </a:spcAft>
        <a:buClr>
          <a:schemeClr val="tx1"/>
        </a:buClr>
        <a:buSzPct val="100000"/>
        <a:buFont typeface="Arial"/>
        <a:buChar char="•"/>
        <a:defRPr sz="105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1885950" indent="-171450" algn="l" defTabSz="342900" rtl="0" eaLnBrk="1" latinLnBrk="0" hangingPunct="1">
        <a:spcBef>
          <a:spcPct val="20000"/>
        </a:spcBef>
        <a:spcAft>
          <a:spcPts val="450"/>
        </a:spcAft>
        <a:buClr>
          <a:schemeClr val="tx1"/>
        </a:buClr>
        <a:buSzPct val="100000"/>
        <a:buFont typeface="Arial"/>
        <a:buChar char="•"/>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228850" indent="-171450" algn="l" defTabSz="342900" rtl="0" eaLnBrk="1" latinLnBrk="0" hangingPunct="1">
        <a:spcBef>
          <a:spcPct val="20000"/>
        </a:spcBef>
        <a:spcAft>
          <a:spcPts val="450"/>
        </a:spcAft>
        <a:buClr>
          <a:schemeClr val="tx1"/>
        </a:buClr>
        <a:buSzPct val="100000"/>
        <a:buFont typeface="Arial"/>
        <a:buChar char="•"/>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2571750" indent="-171450" algn="l" defTabSz="342900" rtl="0" eaLnBrk="1" latinLnBrk="0" hangingPunct="1">
        <a:spcBef>
          <a:spcPct val="20000"/>
        </a:spcBef>
        <a:spcAft>
          <a:spcPts val="450"/>
        </a:spcAft>
        <a:buClr>
          <a:schemeClr val="tx1"/>
        </a:buClr>
        <a:buSzPct val="100000"/>
        <a:buFont typeface="Arial"/>
        <a:buChar char="•"/>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2914650" indent="-171450" algn="l" defTabSz="342900" rtl="0" eaLnBrk="1" latinLnBrk="0" hangingPunct="1">
        <a:spcBef>
          <a:spcPct val="20000"/>
        </a:spcBef>
        <a:spcAft>
          <a:spcPts val="450"/>
        </a:spcAft>
        <a:buClr>
          <a:schemeClr val="tx1"/>
        </a:buClr>
        <a:buSzPct val="100000"/>
        <a:buFont typeface="Arial"/>
        <a:buChar char="•"/>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3" name="Text 1"/>
          <p:cNvSpPr/>
          <p:nvPr/>
        </p:nvSpPr>
        <p:spPr>
          <a:xfrm>
            <a:off x="365760" y="548640"/>
            <a:ext cx="8412480" cy="1097280"/>
          </a:xfrm>
          <a:prstGeom prst="rect">
            <a:avLst/>
          </a:prstGeom>
          <a:noFill/>
          <a:ln/>
        </p:spPr>
        <p:txBody>
          <a:bodyPr wrap="square" rtlCol="0" anchor="ctr"/>
          <a:lstStyle/>
          <a:p>
            <a:pPr marL="0" indent="0" algn="l">
              <a:buNone/>
            </a:pPr>
            <a:r>
              <a:rPr lang="en-US" sz="4400" b="1" dirty="0">
                <a:solidFill>
                  <a:srgbClr val="FFFFFF"/>
                </a:solidFill>
                <a:latin typeface="Georgia" pitchFamily="34" charset="0"/>
                <a:ea typeface="Georgia" pitchFamily="34" charset="-122"/>
                <a:cs typeface="Georgia" pitchFamily="34" charset="-120"/>
              </a:rPr>
              <a:t>Fresh Fruit Detection</a:t>
            </a:r>
            <a:endParaRPr lang="en-US" sz="4400" dirty="0"/>
          </a:p>
        </p:txBody>
      </p:sp>
      <p:sp>
        <p:nvSpPr>
          <p:cNvPr id="4" name="Text 2"/>
          <p:cNvSpPr/>
          <p:nvPr/>
        </p:nvSpPr>
        <p:spPr>
          <a:xfrm>
            <a:off x="365760" y="1554480"/>
            <a:ext cx="8412480" cy="640080"/>
          </a:xfrm>
          <a:prstGeom prst="rect">
            <a:avLst/>
          </a:prstGeom>
          <a:noFill/>
          <a:ln/>
        </p:spPr>
        <p:txBody>
          <a:bodyPr wrap="square" rtlCol="0" anchor="ctr"/>
          <a:lstStyle/>
          <a:p>
            <a:pPr marL="0" indent="0" algn="l">
              <a:buNone/>
            </a:pPr>
            <a:r>
              <a:rPr lang="en-US" sz="2400" i="1" dirty="0">
                <a:solidFill>
                  <a:srgbClr val="52B788"/>
                </a:solidFill>
                <a:latin typeface="Georgia" pitchFamily="34" charset="0"/>
                <a:ea typeface="Georgia" pitchFamily="34" charset="-122"/>
                <a:cs typeface="Georgia" pitchFamily="34" charset="-120"/>
              </a:rPr>
              <a:t>Using Transfer Learning (MobileNetV2)</a:t>
            </a:r>
            <a:endParaRPr lang="en-US" sz="2400" dirty="0"/>
          </a:p>
        </p:txBody>
      </p:sp>
      <p:sp>
        <p:nvSpPr>
          <p:cNvPr id="5" name="Shape 3"/>
          <p:cNvSpPr/>
          <p:nvPr/>
        </p:nvSpPr>
        <p:spPr>
          <a:xfrm>
            <a:off x="365760" y="2331720"/>
            <a:ext cx="4572000" cy="36576"/>
          </a:xfrm>
          <a:prstGeom prst="rect">
            <a:avLst/>
          </a:prstGeom>
          <a:solidFill>
            <a:srgbClr val="2D6A4F"/>
          </a:solidFill>
          <a:ln/>
        </p:spPr>
      </p:sp>
      <p:sp>
        <p:nvSpPr>
          <p:cNvPr id="6" name="Text 4"/>
          <p:cNvSpPr/>
          <p:nvPr/>
        </p:nvSpPr>
        <p:spPr>
          <a:xfrm>
            <a:off x="365760" y="2651760"/>
            <a:ext cx="1371600" cy="292608"/>
          </a:xfrm>
          <a:prstGeom prst="rect">
            <a:avLst/>
          </a:prstGeom>
          <a:noFill/>
          <a:ln/>
        </p:spPr>
        <p:txBody>
          <a:bodyPr wrap="square" rtlCol="0" anchor="ctr"/>
          <a:lstStyle/>
          <a:p>
            <a:pPr marL="0" indent="0" algn="l">
              <a:buNone/>
            </a:pPr>
            <a:r>
              <a:rPr lang="en-US" sz="1100" dirty="0">
                <a:solidFill>
                  <a:srgbClr val="8A9A8E"/>
                </a:solidFill>
                <a:latin typeface="Calibri" pitchFamily="34" charset="0"/>
                <a:ea typeface="Calibri" pitchFamily="34" charset="-122"/>
                <a:cs typeface="Calibri" pitchFamily="34" charset="-120"/>
              </a:rPr>
              <a:t>Student</a:t>
            </a:r>
            <a:endParaRPr lang="en-US" sz="1100" dirty="0"/>
          </a:p>
        </p:txBody>
      </p:sp>
      <p:sp>
        <p:nvSpPr>
          <p:cNvPr id="7" name="Text 5"/>
          <p:cNvSpPr/>
          <p:nvPr/>
        </p:nvSpPr>
        <p:spPr>
          <a:xfrm>
            <a:off x="1737360" y="2651760"/>
            <a:ext cx="4572000" cy="292608"/>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Anushka Marcelo</a:t>
            </a:r>
            <a:endParaRPr lang="en-US" sz="1300" dirty="0"/>
          </a:p>
        </p:txBody>
      </p:sp>
      <p:sp>
        <p:nvSpPr>
          <p:cNvPr id="8" name="Text 6"/>
          <p:cNvSpPr/>
          <p:nvPr/>
        </p:nvSpPr>
        <p:spPr>
          <a:xfrm>
            <a:off x="365760" y="2999232"/>
            <a:ext cx="1371600" cy="292608"/>
          </a:xfrm>
          <a:prstGeom prst="rect">
            <a:avLst/>
          </a:prstGeom>
          <a:noFill/>
          <a:ln/>
        </p:spPr>
        <p:txBody>
          <a:bodyPr wrap="square" rtlCol="0" anchor="ctr"/>
          <a:lstStyle/>
          <a:p>
            <a:pPr marL="0" indent="0" algn="l">
              <a:buNone/>
            </a:pPr>
            <a:r>
              <a:rPr lang="en-US" sz="1100" dirty="0">
                <a:solidFill>
                  <a:srgbClr val="8A9A8E"/>
                </a:solidFill>
                <a:latin typeface="Calibri" pitchFamily="34" charset="0"/>
                <a:ea typeface="Calibri" pitchFamily="34" charset="-122"/>
                <a:cs typeface="Calibri" pitchFamily="34" charset="-120"/>
              </a:rPr>
              <a:t>Course</a:t>
            </a:r>
            <a:endParaRPr lang="en-US" sz="1100" dirty="0"/>
          </a:p>
        </p:txBody>
      </p:sp>
      <p:sp>
        <p:nvSpPr>
          <p:cNvPr id="9" name="Text 7"/>
          <p:cNvSpPr/>
          <p:nvPr/>
        </p:nvSpPr>
        <p:spPr>
          <a:xfrm>
            <a:off x="1737360" y="2999232"/>
            <a:ext cx="4572000" cy="292608"/>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MCA Part 1 | Semester 2</a:t>
            </a:r>
            <a:endParaRPr lang="en-US" sz="1300" dirty="0"/>
          </a:p>
        </p:txBody>
      </p:sp>
      <p:sp>
        <p:nvSpPr>
          <p:cNvPr id="10" name="Text 8"/>
          <p:cNvSpPr/>
          <p:nvPr/>
        </p:nvSpPr>
        <p:spPr>
          <a:xfrm>
            <a:off x="365760" y="3346704"/>
            <a:ext cx="1371600" cy="292608"/>
          </a:xfrm>
          <a:prstGeom prst="rect">
            <a:avLst/>
          </a:prstGeom>
          <a:noFill/>
          <a:ln/>
        </p:spPr>
        <p:txBody>
          <a:bodyPr wrap="square" rtlCol="0" anchor="ctr"/>
          <a:lstStyle/>
          <a:p>
            <a:pPr marL="0" indent="0" algn="l">
              <a:buNone/>
            </a:pPr>
            <a:r>
              <a:rPr lang="en-US" sz="1100" dirty="0">
                <a:solidFill>
                  <a:srgbClr val="8A9A8E"/>
                </a:solidFill>
                <a:latin typeface="Calibri" pitchFamily="34" charset="0"/>
                <a:ea typeface="Calibri" pitchFamily="34" charset="-122"/>
                <a:cs typeface="Calibri" pitchFamily="34" charset="-120"/>
              </a:rPr>
              <a:t>College</a:t>
            </a:r>
            <a:endParaRPr lang="en-US" sz="1100" dirty="0"/>
          </a:p>
        </p:txBody>
      </p:sp>
      <p:sp>
        <p:nvSpPr>
          <p:cNvPr id="11" name="Text 9"/>
          <p:cNvSpPr/>
          <p:nvPr/>
        </p:nvSpPr>
        <p:spPr>
          <a:xfrm>
            <a:off x="1737360" y="3346704"/>
            <a:ext cx="4572000" cy="292608"/>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Goa Business School, Goa University</a:t>
            </a:r>
            <a:endParaRPr lang="en-US" sz="1300" dirty="0"/>
          </a:p>
        </p:txBody>
      </p:sp>
      <p:sp>
        <p:nvSpPr>
          <p:cNvPr id="12" name="Text 10"/>
          <p:cNvSpPr/>
          <p:nvPr/>
        </p:nvSpPr>
        <p:spPr>
          <a:xfrm>
            <a:off x="365760" y="3694176"/>
            <a:ext cx="1371600" cy="292608"/>
          </a:xfrm>
          <a:prstGeom prst="rect">
            <a:avLst/>
          </a:prstGeom>
          <a:noFill/>
          <a:ln/>
        </p:spPr>
        <p:txBody>
          <a:bodyPr wrap="square" rtlCol="0" anchor="ctr"/>
          <a:lstStyle/>
          <a:p>
            <a:pPr marL="0" indent="0" algn="l">
              <a:buNone/>
            </a:pPr>
            <a:r>
              <a:rPr lang="en-US" sz="1100" dirty="0">
                <a:solidFill>
                  <a:srgbClr val="8A9A8E"/>
                </a:solidFill>
                <a:latin typeface="Calibri" pitchFamily="34" charset="0"/>
                <a:ea typeface="Calibri" pitchFamily="34" charset="-122"/>
                <a:cs typeface="Calibri" pitchFamily="34" charset="-120"/>
              </a:rPr>
              <a:t>Date</a:t>
            </a:r>
            <a:endParaRPr lang="en-US" sz="1100" dirty="0"/>
          </a:p>
        </p:txBody>
      </p:sp>
      <p:sp>
        <p:nvSpPr>
          <p:cNvPr id="13" name="Text 11"/>
          <p:cNvSpPr/>
          <p:nvPr/>
        </p:nvSpPr>
        <p:spPr>
          <a:xfrm>
            <a:off x="1737360" y="3694176"/>
            <a:ext cx="4572000" cy="292608"/>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April 2026</a:t>
            </a:r>
            <a:endParaRPr lang="en-US" sz="1300" dirty="0"/>
          </a:p>
        </p:txBody>
      </p:sp>
      <p:sp>
        <p:nvSpPr>
          <p:cNvPr id="14" name="Shape 12"/>
          <p:cNvSpPr/>
          <p:nvPr/>
        </p:nvSpPr>
        <p:spPr>
          <a:xfrm>
            <a:off x="6967904" y="91440"/>
            <a:ext cx="2014318" cy="256032"/>
          </a:xfrm>
          <a:prstGeom prst="roundRect">
            <a:avLst>
              <a:gd name="adj" fmla="val 13158"/>
            </a:avLst>
          </a:prstGeom>
          <a:solidFill>
            <a:srgbClr val="2C5282"/>
          </a:solidFill>
          <a:ln/>
        </p:spPr>
      </p:sp>
      <p:sp>
        <p:nvSpPr>
          <p:cNvPr id="15" name="Text 13"/>
          <p:cNvSpPr/>
          <p:nvPr/>
        </p:nvSpPr>
        <p:spPr>
          <a:xfrm>
            <a:off x="6644346" y="36576"/>
            <a:ext cx="25603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Computer Vision</a:t>
            </a:r>
            <a:endParaRPr lang="en-US" sz="1200" dirty="0"/>
          </a:p>
        </p:txBody>
      </p:sp>
      <p:sp>
        <p:nvSpPr>
          <p:cNvPr id="16" name="Shape 14"/>
          <p:cNvSpPr/>
          <p:nvPr/>
        </p:nvSpPr>
        <p:spPr>
          <a:xfrm>
            <a:off x="6967904" y="402336"/>
            <a:ext cx="2014318" cy="347472"/>
          </a:xfrm>
          <a:prstGeom prst="roundRect">
            <a:avLst>
              <a:gd name="adj" fmla="val 13158"/>
            </a:avLst>
          </a:prstGeom>
          <a:solidFill>
            <a:srgbClr val="276749"/>
          </a:solidFill>
          <a:ln/>
        </p:spPr>
      </p:sp>
      <p:sp>
        <p:nvSpPr>
          <p:cNvPr id="17" name="Text 15"/>
          <p:cNvSpPr/>
          <p:nvPr/>
        </p:nvSpPr>
        <p:spPr>
          <a:xfrm>
            <a:off x="6644346" y="402336"/>
            <a:ext cx="25603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Python + TensorFlow</a:t>
            </a:r>
            <a:endParaRPr lang="en-US" sz="1200" dirty="0"/>
          </a:p>
        </p:txBody>
      </p:sp>
      <p:sp>
        <p:nvSpPr>
          <p:cNvPr id="18" name="Shape 16"/>
          <p:cNvSpPr/>
          <p:nvPr/>
        </p:nvSpPr>
        <p:spPr>
          <a:xfrm>
            <a:off x="6954714" y="841248"/>
            <a:ext cx="2027508" cy="420448"/>
          </a:xfrm>
          <a:prstGeom prst="roundRect">
            <a:avLst>
              <a:gd name="adj" fmla="val 13158"/>
            </a:avLst>
          </a:prstGeom>
          <a:solidFill>
            <a:srgbClr val="B45309"/>
          </a:solidFill>
          <a:ln/>
        </p:spPr>
      </p:sp>
      <p:sp>
        <p:nvSpPr>
          <p:cNvPr id="19" name="Text 17"/>
          <p:cNvSpPr/>
          <p:nvPr/>
        </p:nvSpPr>
        <p:spPr>
          <a:xfrm>
            <a:off x="6644346" y="867624"/>
            <a:ext cx="25603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Google Colab GPU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3" name="Shape 11">
            <a:extLst>
              <a:ext uri="{FF2B5EF4-FFF2-40B4-BE49-F238E27FC236}">
                <a16:creationId xmlns:a16="http://schemas.microsoft.com/office/drawing/2014/main" id="{1B305DAF-3B4B-7382-5A25-74D94DA157DA}"/>
              </a:ext>
            </a:extLst>
          </p:cNvPr>
          <p:cNvSpPr/>
          <p:nvPr/>
        </p:nvSpPr>
        <p:spPr>
          <a:xfrm>
            <a:off x="4709160" y="2770632"/>
            <a:ext cx="4023360" cy="141732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solidFill>
              <a:srgbClr val="E0E8E0"/>
            </a:solidFill>
            <a:prstDash val="solid"/>
          </a:ln>
        </p:spPr>
      </p:sp>
      <p:sp>
        <p:nvSpPr>
          <p:cNvPr id="2" name="Shape 0"/>
          <p:cNvSpPr/>
          <p:nvPr/>
        </p:nvSpPr>
        <p:spPr>
          <a:xfrm>
            <a:off x="0" y="0"/>
            <a:ext cx="9144000" cy="914400"/>
          </a:xfrm>
          <a:prstGeom prst="rect">
            <a:avLst/>
          </a:prstGeom>
          <a:solidFill>
            <a:srgbClr val="2D6A4F"/>
          </a:solidFill>
          <a:ln/>
        </p:spPr>
        <p:txBody>
          <a:bodyPr/>
          <a:lstStyle/>
          <a:p>
            <a:endParaRPr lang="en-IN"/>
          </a:p>
        </p:txBody>
      </p:sp>
      <p:sp>
        <p:nvSpPr>
          <p:cNvPr id="3" name="Text 1"/>
          <p:cNvSpPr/>
          <p:nvPr/>
        </p:nvSpPr>
        <p:spPr>
          <a:xfrm>
            <a:off x="365760" y="91440"/>
            <a:ext cx="8412480" cy="731520"/>
          </a:xfrm>
          <a:prstGeom prst="rect">
            <a:avLst/>
          </a:prstGeom>
          <a:noFill/>
          <a:ln/>
        </p:spPr>
        <p:txBody>
          <a:bodyPr wrap="square"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Problem Statement</a:t>
            </a:r>
            <a:endParaRPr lang="en-US" sz="2800" dirty="0"/>
          </a:p>
        </p:txBody>
      </p:sp>
      <p:sp>
        <p:nvSpPr>
          <p:cNvPr id="4" name="Text 2"/>
          <p:cNvSpPr/>
          <p:nvPr/>
        </p:nvSpPr>
        <p:spPr>
          <a:xfrm>
            <a:off x="8046720" y="91440"/>
            <a:ext cx="731520" cy="731520"/>
          </a:xfrm>
          <a:prstGeom prst="rect">
            <a:avLst/>
          </a:prstGeom>
          <a:noFill/>
          <a:ln/>
        </p:spPr>
        <p:txBody>
          <a:bodyPr wrap="square" rtlCol="0" anchor="ctr"/>
          <a:lstStyle/>
          <a:p>
            <a:pPr marL="0" indent="0" algn="r">
              <a:buNone/>
            </a:pPr>
            <a:endParaRPr lang="en-US" sz="2800" dirty="0"/>
          </a:p>
        </p:txBody>
      </p:sp>
      <p:sp>
        <p:nvSpPr>
          <p:cNvPr id="5" name="Shape 3"/>
          <p:cNvSpPr/>
          <p:nvPr/>
        </p:nvSpPr>
        <p:spPr>
          <a:xfrm>
            <a:off x="274320" y="1143000"/>
            <a:ext cx="4023360" cy="141732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solidFill>
              <a:srgbClr val="E0E8E0"/>
            </a:solidFill>
            <a:prstDash val="solid"/>
          </a:ln>
        </p:spPr>
      </p:sp>
      <p:sp>
        <p:nvSpPr>
          <p:cNvPr id="7" name="Text 5"/>
          <p:cNvSpPr/>
          <p:nvPr/>
        </p:nvSpPr>
        <p:spPr>
          <a:xfrm>
            <a:off x="411480" y="1252728"/>
            <a:ext cx="3749040" cy="365760"/>
          </a:xfrm>
          <a:prstGeom prst="rect">
            <a:avLst/>
          </a:prstGeom>
          <a:noFill/>
          <a:ln/>
        </p:spPr>
        <p:txBody>
          <a:bodyPr wrap="square" rtlCol="0" anchor="ctr"/>
          <a:lstStyle/>
          <a:p>
            <a:pPr marL="0" indent="0">
              <a:buNone/>
            </a:pPr>
            <a:r>
              <a:rPr lang="en-US" sz="1500" b="1" dirty="0">
                <a:solidFill>
                  <a:srgbClr val="1B4332"/>
                </a:solidFill>
                <a:latin typeface="Calibri" pitchFamily="34" charset="0"/>
                <a:ea typeface="Calibri" pitchFamily="34" charset="-122"/>
                <a:cs typeface="Calibri" pitchFamily="34" charset="-120"/>
              </a:rPr>
              <a:t>Time Consuming</a:t>
            </a:r>
            <a:endParaRPr lang="en-US" sz="1500" dirty="0"/>
          </a:p>
        </p:txBody>
      </p:sp>
      <p:sp>
        <p:nvSpPr>
          <p:cNvPr id="8" name="Text 6"/>
          <p:cNvSpPr/>
          <p:nvPr/>
        </p:nvSpPr>
        <p:spPr>
          <a:xfrm>
            <a:off x="411480" y="1645920"/>
            <a:ext cx="3749040" cy="77724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Manual inspection is slow and cannot scale to industrial demands</a:t>
            </a:r>
            <a:endParaRPr lang="en-US" sz="1200" dirty="0"/>
          </a:p>
        </p:txBody>
      </p:sp>
      <p:sp>
        <p:nvSpPr>
          <p:cNvPr id="9" name="Shape 7"/>
          <p:cNvSpPr/>
          <p:nvPr/>
        </p:nvSpPr>
        <p:spPr>
          <a:xfrm>
            <a:off x="4709160" y="1143000"/>
            <a:ext cx="4023360" cy="141732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solidFill>
              <a:srgbClr val="E0E8E0"/>
            </a:solidFill>
            <a:prstDash val="solid"/>
          </a:ln>
        </p:spPr>
      </p:sp>
      <p:sp>
        <p:nvSpPr>
          <p:cNvPr id="11" name="Text 9"/>
          <p:cNvSpPr/>
          <p:nvPr/>
        </p:nvSpPr>
        <p:spPr>
          <a:xfrm>
            <a:off x="4846320" y="1252728"/>
            <a:ext cx="3749040" cy="365760"/>
          </a:xfrm>
          <a:prstGeom prst="rect">
            <a:avLst/>
          </a:prstGeom>
          <a:noFill/>
          <a:ln/>
        </p:spPr>
        <p:txBody>
          <a:bodyPr wrap="square" rtlCol="0" anchor="ctr"/>
          <a:lstStyle/>
          <a:p>
            <a:pPr marL="0" indent="0">
              <a:buNone/>
            </a:pPr>
            <a:r>
              <a:rPr lang="en-US" sz="1500" b="1" dirty="0">
                <a:solidFill>
                  <a:srgbClr val="1B4332"/>
                </a:solidFill>
                <a:latin typeface="Calibri" pitchFamily="34" charset="0"/>
                <a:ea typeface="Calibri" pitchFamily="34" charset="-122"/>
                <a:cs typeface="Calibri" pitchFamily="34" charset="-120"/>
              </a:rPr>
              <a:t> Inconsistent</a:t>
            </a:r>
            <a:endParaRPr lang="en-US" sz="1500" dirty="0"/>
          </a:p>
        </p:txBody>
      </p:sp>
      <p:sp>
        <p:nvSpPr>
          <p:cNvPr id="12" name="Text 10"/>
          <p:cNvSpPr/>
          <p:nvPr/>
        </p:nvSpPr>
        <p:spPr>
          <a:xfrm>
            <a:off x="4846320" y="1645920"/>
            <a:ext cx="3749040" cy="77724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Human judgment varies — no standardized quality measure</a:t>
            </a:r>
            <a:endParaRPr lang="en-US" sz="1200" dirty="0"/>
          </a:p>
        </p:txBody>
      </p:sp>
      <p:sp>
        <p:nvSpPr>
          <p:cNvPr id="13" name="Shape 11"/>
          <p:cNvSpPr/>
          <p:nvPr/>
        </p:nvSpPr>
        <p:spPr>
          <a:xfrm>
            <a:off x="274320" y="2788920"/>
            <a:ext cx="4023360" cy="141732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solidFill>
              <a:srgbClr val="E0E8E0"/>
            </a:solidFill>
            <a:prstDash val="solid"/>
          </a:ln>
        </p:spPr>
      </p:sp>
      <p:sp>
        <p:nvSpPr>
          <p:cNvPr id="15" name="Text 13"/>
          <p:cNvSpPr/>
          <p:nvPr/>
        </p:nvSpPr>
        <p:spPr>
          <a:xfrm>
            <a:off x="411480" y="2898648"/>
            <a:ext cx="3749040" cy="365760"/>
          </a:xfrm>
          <a:prstGeom prst="rect">
            <a:avLst/>
          </a:prstGeom>
          <a:noFill/>
          <a:ln/>
        </p:spPr>
        <p:txBody>
          <a:bodyPr wrap="square" rtlCol="0" anchor="ctr"/>
          <a:lstStyle/>
          <a:p>
            <a:pPr marL="0" indent="0">
              <a:buNone/>
            </a:pPr>
            <a:r>
              <a:rPr lang="en-US" sz="1500" b="1" dirty="0">
                <a:solidFill>
                  <a:srgbClr val="1B4332"/>
                </a:solidFill>
                <a:latin typeface="Calibri" pitchFamily="34" charset="0"/>
                <a:ea typeface="Calibri" pitchFamily="34" charset="-122"/>
                <a:cs typeface="Calibri" pitchFamily="34" charset="-120"/>
              </a:rPr>
              <a:t>Cross-Contamination</a:t>
            </a:r>
            <a:endParaRPr lang="en-US" sz="1500" dirty="0"/>
          </a:p>
        </p:txBody>
      </p:sp>
      <p:sp>
        <p:nvSpPr>
          <p:cNvPr id="16" name="Text 14"/>
          <p:cNvSpPr/>
          <p:nvPr/>
        </p:nvSpPr>
        <p:spPr>
          <a:xfrm>
            <a:off x="411480" y="3291840"/>
            <a:ext cx="3749040" cy="77724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Delayed detection causes rotten fruits to spoil fresh ones</a:t>
            </a:r>
            <a:endParaRPr lang="en-US" sz="1200" dirty="0"/>
          </a:p>
        </p:txBody>
      </p:sp>
      <p:sp>
        <p:nvSpPr>
          <p:cNvPr id="19" name="Text 17"/>
          <p:cNvSpPr/>
          <p:nvPr/>
        </p:nvSpPr>
        <p:spPr>
          <a:xfrm>
            <a:off x="4846320" y="2898648"/>
            <a:ext cx="3749040" cy="365760"/>
          </a:xfrm>
          <a:prstGeom prst="rect">
            <a:avLst/>
          </a:prstGeom>
          <a:noFill/>
          <a:ln/>
        </p:spPr>
        <p:txBody>
          <a:bodyPr wrap="square" rtlCol="0" anchor="ctr"/>
          <a:lstStyle/>
          <a:p>
            <a:pPr marL="0" indent="0">
              <a:buNone/>
            </a:pPr>
            <a:r>
              <a:rPr lang="en-US" sz="1500" b="1" dirty="0">
                <a:solidFill>
                  <a:srgbClr val="1B4332"/>
                </a:solidFill>
                <a:latin typeface="Calibri" pitchFamily="34" charset="0"/>
                <a:ea typeface="Calibri" pitchFamily="34" charset="-122"/>
                <a:cs typeface="Calibri" pitchFamily="34" charset="-120"/>
              </a:rPr>
              <a:t>Revenue Loss</a:t>
            </a:r>
            <a:endParaRPr lang="en-US" sz="1500" dirty="0"/>
          </a:p>
        </p:txBody>
      </p:sp>
      <p:sp>
        <p:nvSpPr>
          <p:cNvPr id="20" name="Text 18"/>
          <p:cNvSpPr/>
          <p:nvPr/>
        </p:nvSpPr>
        <p:spPr>
          <a:xfrm>
            <a:off x="4846320" y="3291840"/>
            <a:ext cx="3749040" cy="77724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Billions lost annually due to undetected food spoilage</a:t>
            </a:r>
            <a:endParaRPr lang="en-US" sz="1200" dirty="0"/>
          </a:p>
        </p:txBody>
      </p:sp>
      <p:sp>
        <p:nvSpPr>
          <p:cNvPr id="21" name="Shape 19"/>
          <p:cNvSpPr/>
          <p:nvPr/>
        </p:nvSpPr>
        <p:spPr>
          <a:xfrm>
            <a:off x="0" y="4754880"/>
            <a:ext cx="9144000" cy="365760"/>
          </a:xfrm>
          <a:prstGeom prst="rect">
            <a:avLst/>
          </a:prstGeom>
          <a:solidFill>
            <a:srgbClr val="D8F3DC"/>
          </a:solidFill>
          <a:ln/>
        </p:spPr>
      </p:sp>
      <p:sp>
        <p:nvSpPr>
          <p:cNvPr id="22" name="Text 20"/>
          <p:cNvSpPr/>
          <p:nvPr/>
        </p:nvSpPr>
        <p:spPr>
          <a:xfrm>
            <a:off x="274320" y="4773168"/>
            <a:ext cx="8595360" cy="329184"/>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Solution: An AI-powered automated system that detects fruit freshness instantly, consistently, and at scale.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D6A4F"/>
          </a:solidFill>
          <a:ln/>
        </p:spPr>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Dataset</a:t>
            </a:r>
            <a:endParaRPr lang="en-US" sz="2800" dirty="0"/>
          </a:p>
        </p:txBody>
      </p:sp>
      <p:sp>
        <p:nvSpPr>
          <p:cNvPr id="4" name="Text 2"/>
          <p:cNvSpPr/>
          <p:nvPr/>
        </p:nvSpPr>
        <p:spPr>
          <a:xfrm>
            <a:off x="8046720" y="91440"/>
            <a:ext cx="731520" cy="731520"/>
          </a:xfrm>
          <a:prstGeom prst="rect">
            <a:avLst/>
          </a:prstGeom>
          <a:noFill/>
          <a:ln/>
        </p:spPr>
        <p:txBody>
          <a:bodyPr wrap="square" rtlCol="0" anchor="ctr"/>
          <a:lstStyle/>
          <a:p>
            <a:pPr marL="0" indent="0" algn="r">
              <a:buNone/>
            </a:pPr>
            <a:endParaRPr lang="en-US" sz="2800" dirty="0"/>
          </a:p>
        </p:txBody>
      </p:sp>
      <p:sp>
        <p:nvSpPr>
          <p:cNvPr id="5" name="Text 3"/>
          <p:cNvSpPr/>
          <p:nvPr/>
        </p:nvSpPr>
        <p:spPr>
          <a:xfrm>
            <a:off x="365760" y="1051560"/>
            <a:ext cx="4206240" cy="411480"/>
          </a:xfrm>
          <a:prstGeom prst="rect">
            <a:avLst/>
          </a:prstGeom>
          <a:noFill/>
          <a:ln/>
        </p:spPr>
        <p:txBody>
          <a:bodyPr wrap="square" rtlCol="0" anchor="ctr"/>
          <a:lstStyle/>
          <a:p>
            <a:pPr marL="0" indent="0">
              <a:buNone/>
            </a:pPr>
            <a:r>
              <a:rPr lang="en-US" sz="1400" b="1" dirty="0">
                <a:solidFill>
                  <a:srgbClr val="1B4332"/>
                </a:solidFill>
                <a:latin typeface="Georgia" pitchFamily="34" charset="0"/>
                <a:ea typeface="Georgia" pitchFamily="34" charset="-122"/>
                <a:cs typeface="Georgia" pitchFamily="34" charset="-120"/>
              </a:rPr>
              <a:t>Fruits-360 Dataset (Kaggle)</a:t>
            </a:r>
            <a:endParaRPr lang="en-US" sz="1400" dirty="0"/>
          </a:p>
        </p:txBody>
      </p:sp>
      <p:sp>
        <p:nvSpPr>
          <p:cNvPr id="6" name="Text 4"/>
          <p:cNvSpPr/>
          <p:nvPr/>
        </p:nvSpPr>
        <p:spPr>
          <a:xfrm>
            <a:off x="365760" y="1554480"/>
            <a:ext cx="1463040" cy="320040"/>
          </a:xfrm>
          <a:prstGeom prst="rect">
            <a:avLst/>
          </a:prstGeom>
          <a:noFill/>
          <a:ln/>
        </p:spPr>
        <p:txBody>
          <a:bodyPr wrap="square" rtlCol="0" anchor="ctr"/>
          <a:lstStyle/>
          <a:p>
            <a:pPr marL="0" indent="0">
              <a:buNone/>
            </a:pPr>
            <a:r>
              <a:rPr lang="en-US" sz="1200" b="1" dirty="0">
                <a:solidFill>
                  <a:srgbClr val="2D6A4F"/>
                </a:solidFill>
                <a:latin typeface="Calibri" pitchFamily="34" charset="0"/>
                <a:ea typeface="Calibri" pitchFamily="34" charset="-122"/>
                <a:cs typeface="Calibri" pitchFamily="34" charset="-120"/>
              </a:rPr>
              <a:t>Source:</a:t>
            </a:r>
            <a:endParaRPr lang="en-US" sz="1200" dirty="0"/>
          </a:p>
        </p:txBody>
      </p:sp>
      <p:sp>
        <p:nvSpPr>
          <p:cNvPr id="7" name="Text 5"/>
          <p:cNvSpPr/>
          <p:nvPr/>
        </p:nvSpPr>
        <p:spPr>
          <a:xfrm>
            <a:off x="1828800" y="1554480"/>
            <a:ext cx="2743200" cy="32004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Kaggle — sriramr</a:t>
            </a:r>
            <a:endParaRPr lang="en-US" sz="1200" dirty="0"/>
          </a:p>
        </p:txBody>
      </p:sp>
      <p:sp>
        <p:nvSpPr>
          <p:cNvPr id="8" name="Text 6"/>
          <p:cNvSpPr/>
          <p:nvPr/>
        </p:nvSpPr>
        <p:spPr>
          <a:xfrm>
            <a:off x="365760" y="1901952"/>
            <a:ext cx="1463040" cy="320040"/>
          </a:xfrm>
          <a:prstGeom prst="rect">
            <a:avLst/>
          </a:prstGeom>
          <a:noFill/>
          <a:ln/>
        </p:spPr>
        <p:txBody>
          <a:bodyPr wrap="square" rtlCol="0" anchor="ctr"/>
          <a:lstStyle/>
          <a:p>
            <a:pPr marL="0" indent="0">
              <a:buNone/>
            </a:pPr>
            <a:r>
              <a:rPr lang="en-US" sz="1200" b="1" dirty="0">
                <a:solidFill>
                  <a:srgbClr val="2D6A4F"/>
                </a:solidFill>
                <a:latin typeface="Calibri" pitchFamily="34" charset="0"/>
                <a:ea typeface="Calibri" pitchFamily="34" charset="-122"/>
                <a:cs typeface="Calibri" pitchFamily="34" charset="-120"/>
              </a:rPr>
              <a:t>Total Images:</a:t>
            </a:r>
            <a:endParaRPr lang="en-US" sz="1200" dirty="0"/>
          </a:p>
        </p:txBody>
      </p:sp>
      <p:sp>
        <p:nvSpPr>
          <p:cNvPr id="9" name="Text 7"/>
          <p:cNvSpPr/>
          <p:nvPr/>
        </p:nvSpPr>
        <p:spPr>
          <a:xfrm>
            <a:off x="1828800" y="1901952"/>
            <a:ext cx="2743200" cy="32004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~13,000+</a:t>
            </a:r>
            <a:endParaRPr lang="en-US" sz="1200" dirty="0"/>
          </a:p>
        </p:txBody>
      </p:sp>
      <p:sp>
        <p:nvSpPr>
          <p:cNvPr id="10" name="Text 8"/>
          <p:cNvSpPr/>
          <p:nvPr/>
        </p:nvSpPr>
        <p:spPr>
          <a:xfrm>
            <a:off x="365760" y="2249424"/>
            <a:ext cx="1463040" cy="320040"/>
          </a:xfrm>
          <a:prstGeom prst="rect">
            <a:avLst/>
          </a:prstGeom>
          <a:noFill/>
          <a:ln/>
        </p:spPr>
        <p:txBody>
          <a:bodyPr wrap="square" rtlCol="0" anchor="ctr"/>
          <a:lstStyle/>
          <a:p>
            <a:pPr marL="0" indent="0">
              <a:buNone/>
            </a:pPr>
            <a:r>
              <a:rPr lang="en-US" sz="1200" b="1" dirty="0">
                <a:solidFill>
                  <a:srgbClr val="2D6A4F"/>
                </a:solidFill>
                <a:latin typeface="Calibri" pitchFamily="34" charset="0"/>
                <a:ea typeface="Calibri" pitchFamily="34" charset="-122"/>
                <a:cs typeface="Calibri" pitchFamily="34" charset="-120"/>
              </a:rPr>
              <a:t>Image Size:</a:t>
            </a:r>
            <a:endParaRPr lang="en-US" sz="1200" dirty="0"/>
          </a:p>
        </p:txBody>
      </p:sp>
      <p:sp>
        <p:nvSpPr>
          <p:cNvPr id="11" name="Text 9"/>
          <p:cNvSpPr/>
          <p:nvPr/>
        </p:nvSpPr>
        <p:spPr>
          <a:xfrm>
            <a:off x="1828800" y="2249424"/>
            <a:ext cx="2743200" cy="32004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224 x 224 px</a:t>
            </a:r>
            <a:endParaRPr lang="en-US" sz="1200" dirty="0"/>
          </a:p>
        </p:txBody>
      </p:sp>
      <p:sp>
        <p:nvSpPr>
          <p:cNvPr id="12" name="Text 10"/>
          <p:cNvSpPr/>
          <p:nvPr/>
        </p:nvSpPr>
        <p:spPr>
          <a:xfrm>
            <a:off x="365760" y="2596896"/>
            <a:ext cx="1463040" cy="320040"/>
          </a:xfrm>
          <a:prstGeom prst="rect">
            <a:avLst/>
          </a:prstGeom>
          <a:noFill/>
          <a:ln/>
        </p:spPr>
        <p:txBody>
          <a:bodyPr wrap="square" rtlCol="0" anchor="ctr"/>
          <a:lstStyle/>
          <a:p>
            <a:pPr marL="0" indent="0">
              <a:buNone/>
            </a:pPr>
            <a:r>
              <a:rPr lang="en-US" sz="1200" b="1" dirty="0">
                <a:solidFill>
                  <a:srgbClr val="2D6A4F"/>
                </a:solidFill>
                <a:latin typeface="Calibri" pitchFamily="34" charset="0"/>
                <a:ea typeface="Calibri" pitchFamily="34" charset="-122"/>
                <a:cs typeface="Calibri" pitchFamily="34" charset="-120"/>
              </a:rPr>
              <a:t>Format:</a:t>
            </a:r>
            <a:endParaRPr lang="en-US" sz="1200" dirty="0"/>
          </a:p>
        </p:txBody>
      </p:sp>
      <p:sp>
        <p:nvSpPr>
          <p:cNvPr id="13" name="Text 11"/>
          <p:cNvSpPr/>
          <p:nvPr/>
        </p:nvSpPr>
        <p:spPr>
          <a:xfrm>
            <a:off x="1828800" y="2596896"/>
            <a:ext cx="2743200" cy="32004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JPEG / PNG (RGB)</a:t>
            </a:r>
            <a:endParaRPr lang="en-US" sz="1200" dirty="0"/>
          </a:p>
        </p:txBody>
      </p:sp>
      <p:sp>
        <p:nvSpPr>
          <p:cNvPr id="14" name="Text 12"/>
          <p:cNvSpPr/>
          <p:nvPr/>
        </p:nvSpPr>
        <p:spPr>
          <a:xfrm>
            <a:off x="365760" y="2944368"/>
            <a:ext cx="1463040" cy="320040"/>
          </a:xfrm>
          <a:prstGeom prst="rect">
            <a:avLst/>
          </a:prstGeom>
          <a:noFill/>
          <a:ln/>
        </p:spPr>
        <p:txBody>
          <a:bodyPr wrap="square" rtlCol="0" anchor="ctr"/>
          <a:lstStyle/>
          <a:p>
            <a:pPr marL="0" indent="0">
              <a:buNone/>
            </a:pPr>
            <a:r>
              <a:rPr lang="en-US" sz="1200" b="1" dirty="0">
                <a:solidFill>
                  <a:srgbClr val="2D6A4F"/>
                </a:solidFill>
                <a:latin typeface="Calibri" pitchFamily="34" charset="0"/>
                <a:ea typeface="Calibri" pitchFamily="34" charset="-122"/>
                <a:cs typeface="Calibri" pitchFamily="34" charset="-120"/>
              </a:rPr>
              <a:t>Split:</a:t>
            </a:r>
            <a:endParaRPr lang="en-US" sz="1200" dirty="0"/>
          </a:p>
        </p:txBody>
      </p:sp>
      <p:sp>
        <p:nvSpPr>
          <p:cNvPr id="15" name="Text 13"/>
          <p:cNvSpPr/>
          <p:nvPr/>
        </p:nvSpPr>
        <p:spPr>
          <a:xfrm>
            <a:off x="1828800" y="2944368"/>
            <a:ext cx="2743200" cy="32004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80% Train | 20% Val</a:t>
            </a:r>
            <a:endParaRPr lang="en-US" sz="1200" dirty="0"/>
          </a:p>
        </p:txBody>
      </p:sp>
      <p:sp>
        <p:nvSpPr>
          <p:cNvPr id="16" name="Text 14"/>
          <p:cNvSpPr/>
          <p:nvPr/>
        </p:nvSpPr>
        <p:spPr>
          <a:xfrm>
            <a:off x="4754880" y="1051560"/>
            <a:ext cx="4114800" cy="365760"/>
          </a:xfrm>
          <a:prstGeom prst="rect">
            <a:avLst/>
          </a:prstGeom>
          <a:noFill/>
          <a:ln/>
        </p:spPr>
        <p:txBody>
          <a:bodyPr wrap="square" rtlCol="0" anchor="ctr"/>
          <a:lstStyle/>
          <a:p>
            <a:pPr marL="0" indent="0" algn="ctr">
              <a:buNone/>
            </a:pPr>
            <a:r>
              <a:rPr lang="en-US" sz="1600" b="1" dirty="0">
                <a:solidFill>
                  <a:srgbClr val="1B4332"/>
                </a:solidFill>
                <a:latin typeface="Georgia" pitchFamily="34" charset="0"/>
                <a:ea typeface="Georgia" pitchFamily="34" charset="-122"/>
                <a:cs typeface="Georgia" pitchFamily="34" charset="-120"/>
              </a:rPr>
              <a:t>Classes in Dataset</a:t>
            </a:r>
            <a:endParaRPr lang="en-US" sz="1600" dirty="0"/>
          </a:p>
        </p:txBody>
      </p:sp>
      <p:graphicFrame>
        <p:nvGraphicFramePr>
          <p:cNvPr id="17" name="Chart 0"/>
          <p:cNvGraphicFramePr/>
          <p:nvPr/>
        </p:nvGraphicFramePr>
        <p:xfrm>
          <a:off x="4572000" y="1463040"/>
          <a:ext cx="4297680" cy="33832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332"/>
          </a:solidFill>
          <a:ln/>
        </p:spPr>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Methodology — Transfer Learning</a:t>
            </a:r>
            <a:endParaRPr lang="en-US" sz="2600" dirty="0"/>
          </a:p>
        </p:txBody>
      </p:sp>
      <p:sp>
        <p:nvSpPr>
          <p:cNvPr id="4" name="Text 2"/>
          <p:cNvSpPr/>
          <p:nvPr/>
        </p:nvSpPr>
        <p:spPr>
          <a:xfrm>
            <a:off x="8046720" y="91440"/>
            <a:ext cx="731520" cy="731520"/>
          </a:xfrm>
          <a:prstGeom prst="rect">
            <a:avLst/>
          </a:prstGeom>
          <a:noFill/>
          <a:ln/>
        </p:spPr>
        <p:txBody>
          <a:bodyPr wrap="square" rtlCol="0" anchor="ctr"/>
          <a:lstStyle/>
          <a:p>
            <a:pPr marL="0" indent="0" algn="r">
              <a:buNone/>
            </a:pPr>
            <a:endParaRPr lang="en-US" sz="2800" dirty="0"/>
          </a:p>
        </p:txBody>
      </p:sp>
      <p:sp>
        <p:nvSpPr>
          <p:cNvPr id="5" name="Shape 3"/>
          <p:cNvSpPr/>
          <p:nvPr/>
        </p:nvSpPr>
        <p:spPr>
          <a:xfrm>
            <a:off x="457200" y="1005840"/>
            <a:ext cx="1828800" cy="1371600"/>
          </a:xfrm>
          <a:prstGeom prst="rect">
            <a:avLst/>
          </a:prstGeom>
          <a:ln/>
        </p:spPr>
        <p:style>
          <a:lnRef idx="2">
            <a:schemeClr val="accent2"/>
          </a:lnRef>
          <a:fillRef idx="1">
            <a:schemeClr val="lt1"/>
          </a:fillRef>
          <a:effectRef idx="0">
            <a:schemeClr val="accent2"/>
          </a:effectRef>
          <a:fontRef idx="minor">
            <a:schemeClr val="dk1"/>
          </a:fontRef>
        </p:style>
        <p:txBody>
          <a:bodyPr/>
          <a:lstStyle/>
          <a:p>
            <a:endParaRPr lang="en-IN" dirty="0"/>
          </a:p>
        </p:txBody>
      </p:sp>
      <p:sp>
        <p:nvSpPr>
          <p:cNvPr id="6" name="Text 4"/>
          <p:cNvSpPr/>
          <p:nvPr/>
        </p:nvSpPr>
        <p:spPr>
          <a:xfrm>
            <a:off x="457200" y="1024128"/>
            <a:ext cx="1828800" cy="45720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457200" y="1444752"/>
            <a:ext cx="1828800" cy="365760"/>
          </a:xfrm>
          <a:prstGeom prst="rect">
            <a:avLst/>
          </a:prstGeom>
          <a:noFill/>
          <a:ln/>
        </p:spPr>
        <p:txBody>
          <a:bodyPr wrap="square" rtlCol="0" anchor="ctr"/>
          <a:lstStyle/>
          <a:p>
            <a:pPr marL="0" indent="0" algn="ctr">
              <a:buNone/>
            </a:pPr>
            <a:r>
              <a:rPr lang="en-US" sz="1300" b="1" spc="50" dirty="0">
                <a:ln w="0"/>
                <a:solidFill>
                  <a:schemeClr val="bg2"/>
                </a:solidFill>
                <a:effectLst>
                  <a:innerShdw blurRad="63500" dist="50800" dir="13500000">
                    <a:srgbClr val="000000">
                      <a:alpha val="50000"/>
                    </a:srgbClr>
                  </a:innerShdw>
                </a:effectLst>
                <a:latin typeface="Calibri" pitchFamily="34" charset="0"/>
                <a:ea typeface="Calibri" pitchFamily="34" charset="-122"/>
                <a:cs typeface="Calibri" pitchFamily="34" charset="-120"/>
              </a:rPr>
              <a:t>Input Image</a:t>
            </a:r>
            <a:endParaRPr lang="en-US" sz="1300" b="1" spc="50" dirty="0">
              <a:ln w="0"/>
              <a:solidFill>
                <a:schemeClr val="bg2"/>
              </a:solidFill>
              <a:effectLst>
                <a:innerShdw blurRad="63500" dist="50800" dir="13500000">
                  <a:srgbClr val="000000">
                    <a:alpha val="50000"/>
                  </a:srgbClr>
                </a:innerShdw>
              </a:effectLst>
            </a:endParaRPr>
          </a:p>
        </p:txBody>
      </p:sp>
      <p:sp>
        <p:nvSpPr>
          <p:cNvPr id="8" name="Text 6"/>
          <p:cNvSpPr/>
          <p:nvPr/>
        </p:nvSpPr>
        <p:spPr>
          <a:xfrm>
            <a:off x="457200" y="1783080"/>
            <a:ext cx="1828800" cy="502920"/>
          </a:xfrm>
          <a:prstGeom prst="rect">
            <a:avLst/>
          </a:prstGeom>
          <a:noFill/>
          <a:ln/>
        </p:spPr>
        <p:txBody>
          <a:bodyPr wrap="square" rtlCol="0" anchor="ctr"/>
          <a:lstStyle/>
          <a:p>
            <a:pPr marL="0" indent="0" algn="ctr">
              <a:buNone/>
            </a:pPr>
            <a:r>
              <a:rPr lang="en-US" sz="1000" b="1" spc="50" dirty="0">
                <a:ln w="0"/>
                <a:solidFill>
                  <a:schemeClr val="bg2"/>
                </a:solidFill>
                <a:effectLst>
                  <a:innerShdw blurRad="63500" dist="50800" dir="13500000">
                    <a:srgbClr val="000000">
                      <a:alpha val="50000"/>
                    </a:srgbClr>
                  </a:innerShdw>
                </a:effectLst>
                <a:latin typeface="Calibri" pitchFamily="34" charset="0"/>
                <a:ea typeface="Calibri" pitchFamily="34" charset="-122"/>
                <a:cs typeface="Calibri" pitchFamily="34" charset="-120"/>
              </a:rPr>
              <a:t>224×224 RGB</a:t>
            </a:r>
            <a:endParaRPr lang="en-US" sz="1000" b="1" spc="50" dirty="0">
              <a:ln w="0"/>
              <a:solidFill>
                <a:schemeClr val="bg2"/>
              </a:solidFill>
              <a:effectLst>
                <a:innerShdw blurRad="63500" dist="50800" dir="13500000">
                  <a:srgbClr val="000000">
                    <a:alpha val="50000"/>
                  </a:srgbClr>
                </a:innerShdw>
              </a:effectLst>
            </a:endParaRPr>
          </a:p>
        </p:txBody>
      </p:sp>
      <p:sp>
        <p:nvSpPr>
          <p:cNvPr id="9" name="Text 7"/>
          <p:cNvSpPr/>
          <p:nvPr/>
        </p:nvSpPr>
        <p:spPr>
          <a:xfrm>
            <a:off x="2286000" y="1371600"/>
            <a:ext cx="320040" cy="548640"/>
          </a:xfrm>
          <a:prstGeom prst="rect">
            <a:avLst/>
          </a:prstGeom>
          <a:noFill/>
          <a:ln/>
        </p:spPr>
        <p:txBody>
          <a:bodyPr wrap="square" rtlCol="0" anchor="ctr"/>
          <a:lstStyle/>
          <a:p>
            <a:pPr marL="0" indent="0" algn="ctr">
              <a:buNone/>
            </a:pPr>
            <a:r>
              <a:rPr lang="en-US" sz="2200" b="1" dirty="0">
                <a:solidFill>
                  <a:srgbClr val="2D6A4F"/>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2606040" y="1005840"/>
            <a:ext cx="1828800" cy="1371600"/>
          </a:xfrm>
          <a:prstGeom prst="rect">
            <a:avLst/>
          </a:prstGeom>
          <a:ln/>
        </p:spPr>
        <p:style>
          <a:lnRef idx="2">
            <a:schemeClr val="accent2"/>
          </a:lnRef>
          <a:fillRef idx="1">
            <a:schemeClr val="lt1"/>
          </a:fillRef>
          <a:effectRef idx="0">
            <a:schemeClr val="accent2"/>
          </a:effectRef>
          <a:fontRef idx="minor">
            <a:schemeClr val="dk1"/>
          </a:fontRef>
        </p:style>
      </p:sp>
      <p:sp>
        <p:nvSpPr>
          <p:cNvPr id="11" name="Text 9"/>
          <p:cNvSpPr/>
          <p:nvPr/>
        </p:nvSpPr>
        <p:spPr>
          <a:xfrm>
            <a:off x="2606040" y="1024128"/>
            <a:ext cx="1828800" cy="45720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2" name="Text 10"/>
          <p:cNvSpPr/>
          <p:nvPr/>
        </p:nvSpPr>
        <p:spPr>
          <a:xfrm>
            <a:off x="2606040" y="1444752"/>
            <a:ext cx="1828800" cy="365760"/>
          </a:xfrm>
          <a:prstGeom prst="rect">
            <a:avLst/>
          </a:prstGeom>
          <a:noFill/>
          <a:ln/>
        </p:spPr>
        <p:txBody>
          <a:bodyPr wrap="square" rtlCol="0" anchor="ctr">
            <a:scene3d>
              <a:camera prst="orthographicFront"/>
              <a:lightRig rig="harsh" dir="t"/>
            </a:scene3d>
            <a:sp3d extrusionH="57150" prstMaterial="matte">
              <a:bevelT w="63500" h="12700" prst="angle"/>
              <a:contourClr>
                <a:schemeClr val="bg1">
                  <a:lumMod val="65000"/>
                </a:schemeClr>
              </a:contourClr>
            </a:sp3d>
          </a:bodyPr>
          <a:lstStyle/>
          <a:p>
            <a:pPr marL="0" indent="0" algn="ctr">
              <a:buNone/>
            </a:pPr>
            <a:r>
              <a:rPr lang="en-US" sz="1300" b="1" dirty="0">
                <a:ln/>
                <a:solidFill>
                  <a:schemeClr val="accent3"/>
                </a:solidFill>
                <a:latin typeface="Calibri" pitchFamily="34" charset="0"/>
                <a:ea typeface="Calibri" pitchFamily="34" charset="-122"/>
                <a:cs typeface="Calibri" pitchFamily="34" charset="-120"/>
              </a:rPr>
              <a:t>MobileNetV2</a:t>
            </a:r>
            <a:endParaRPr lang="en-US" sz="1300" b="1" dirty="0">
              <a:ln/>
              <a:solidFill>
                <a:schemeClr val="accent3"/>
              </a:solidFill>
            </a:endParaRPr>
          </a:p>
        </p:txBody>
      </p:sp>
      <p:sp>
        <p:nvSpPr>
          <p:cNvPr id="13" name="Text 11"/>
          <p:cNvSpPr/>
          <p:nvPr/>
        </p:nvSpPr>
        <p:spPr>
          <a:xfrm>
            <a:off x="2606040" y="1783080"/>
            <a:ext cx="1828800" cy="502920"/>
          </a:xfrm>
          <a:prstGeom prst="rect">
            <a:avLst/>
          </a:prstGeom>
          <a:noFill/>
          <a:ln/>
        </p:spPr>
        <p:txBody>
          <a:bodyPr wrap="square" rtlCol="0" anchor="ctr"/>
          <a:lstStyle/>
          <a:p>
            <a:pPr marL="0" indent="0" algn="ctr">
              <a:buNone/>
            </a:pPr>
            <a:r>
              <a:rPr lang="en-US" sz="1000" b="1" spc="50" dirty="0">
                <a:ln w="0"/>
                <a:solidFill>
                  <a:schemeClr val="bg2"/>
                </a:solidFill>
                <a:effectLst>
                  <a:innerShdw blurRad="63500" dist="50800" dir="13500000">
                    <a:srgbClr val="000000">
                      <a:alpha val="50000"/>
                    </a:srgbClr>
                  </a:innerShdw>
                </a:effectLst>
                <a:latin typeface="Calibri" pitchFamily="34" charset="0"/>
                <a:ea typeface="Calibri" pitchFamily="34" charset="-122"/>
                <a:cs typeface="Calibri" pitchFamily="34" charset="-120"/>
              </a:rPr>
              <a:t>Pre-trained</a:t>
            </a:r>
            <a:endParaRPr lang="en-US" sz="1000" b="1" spc="50" dirty="0">
              <a:ln w="0"/>
              <a:solidFill>
                <a:schemeClr val="bg2"/>
              </a:solidFill>
              <a:effectLst>
                <a:innerShdw blurRad="63500" dist="50800" dir="13500000">
                  <a:srgbClr val="000000">
                    <a:alpha val="50000"/>
                  </a:srgbClr>
                </a:innerShdw>
              </a:effectLst>
            </a:endParaRPr>
          </a:p>
          <a:p>
            <a:pPr marL="0" indent="0" algn="ctr">
              <a:buNone/>
            </a:pPr>
            <a:r>
              <a:rPr lang="en-US" sz="1000" b="1" spc="50" dirty="0">
                <a:ln w="0"/>
                <a:solidFill>
                  <a:schemeClr val="bg2"/>
                </a:solidFill>
                <a:effectLst>
                  <a:innerShdw blurRad="63500" dist="50800" dir="13500000">
                    <a:srgbClr val="000000">
                      <a:alpha val="50000"/>
                    </a:srgbClr>
                  </a:innerShdw>
                </a:effectLst>
                <a:latin typeface="Calibri" pitchFamily="34" charset="0"/>
                <a:ea typeface="Calibri" pitchFamily="34" charset="-122"/>
                <a:cs typeface="Calibri" pitchFamily="34" charset="-120"/>
              </a:rPr>
              <a:t>ImageNet</a:t>
            </a:r>
            <a:endParaRPr lang="en-US" sz="1000" b="1" spc="50" dirty="0">
              <a:ln w="0"/>
              <a:solidFill>
                <a:schemeClr val="bg2"/>
              </a:solidFill>
              <a:effectLst>
                <a:innerShdw blurRad="63500" dist="50800" dir="13500000">
                  <a:srgbClr val="000000">
                    <a:alpha val="50000"/>
                  </a:srgbClr>
                </a:innerShdw>
              </a:effectLst>
            </a:endParaRPr>
          </a:p>
        </p:txBody>
      </p:sp>
      <p:sp>
        <p:nvSpPr>
          <p:cNvPr id="14" name="Text 12"/>
          <p:cNvSpPr/>
          <p:nvPr/>
        </p:nvSpPr>
        <p:spPr>
          <a:xfrm>
            <a:off x="4434840" y="1371600"/>
            <a:ext cx="320040" cy="548640"/>
          </a:xfrm>
          <a:prstGeom prst="rect">
            <a:avLst/>
          </a:prstGeom>
          <a:noFill/>
          <a:ln/>
        </p:spPr>
        <p:txBody>
          <a:bodyPr wrap="square" rtlCol="0" anchor="ctr"/>
          <a:lstStyle/>
          <a:p>
            <a:pPr marL="0" indent="0" algn="ctr">
              <a:buNone/>
            </a:pPr>
            <a:r>
              <a:rPr lang="en-US" sz="2200" b="1" dirty="0">
                <a:solidFill>
                  <a:srgbClr val="2D6A4F"/>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4754880" y="1005840"/>
            <a:ext cx="1828800" cy="1371600"/>
          </a:xfrm>
          <a:prstGeom prst="rect">
            <a:avLst/>
          </a:prstGeom>
          <a:ln/>
        </p:spPr>
        <p:style>
          <a:lnRef idx="2">
            <a:schemeClr val="accent2"/>
          </a:lnRef>
          <a:fillRef idx="1">
            <a:schemeClr val="lt1"/>
          </a:fillRef>
          <a:effectRef idx="0">
            <a:schemeClr val="accent2"/>
          </a:effectRef>
          <a:fontRef idx="minor">
            <a:schemeClr val="dk1"/>
          </a:fontRef>
        </p:style>
      </p:sp>
      <p:sp>
        <p:nvSpPr>
          <p:cNvPr id="16" name="Text 14"/>
          <p:cNvSpPr/>
          <p:nvPr/>
        </p:nvSpPr>
        <p:spPr>
          <a:xfrm>
            <a:off x="4754880" y="1024128"/>
            <a:ext cx="1828800" cy="45720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7" name="Text 15"/>
          <p:cNvSpPr/>
          <p:nvPr/>
        </p:nvSpPr>
        <p:spPr>
          <a:xfrm>
            <a:off x="4754880" y="1444752"/>
            <a:ext cx="1828800" cy="365760"/>
          </a:xfrm>
          <a:prstGeom prst="rect">
            <a:avLst/>
          </a:prstGeom>
          <a:noFill/>
          <a:ln/>
        </p:spPr>
        <p:txBody>
          <a:bodyPr wrap="square" rtlCol="0" anchor="ctr"/>
          <a:lstStyle/>
          <a:p>
            <a:pPr marL="0" indent="0" algn="ctr">
              <a:buNone/>
            </a:pPr>
            <a:r>
              <a:rPr lang="en-US" sz="1300" dirty="0">
                <a:ln w="0"/>
                <a:solidFill>
                  <a:schemeClr val="accent1"/>
                </a:solidFill>
                <a:effectLst>
                  <a:outerShdw blurRad="38100" dist="25400" dir="5400000" algn="ctr" rotWithShape="0">
                    <a:srgbClr val="6E747A">
                      <a:alpha val="43000"/>
                    </a:srgbClr>
                  </a:outerShdw>
                </a:effectLst>
                <a:latin typeface="Calibri" pitchFamily="34" charset="0"/>
                <a:ea typeface="Calibri" pitchFamily="34" charset="-122"/>
                <a:cs typeface="Calibri" pitchFamily="34" charset="-120"/>
              </a:rPr>
              <a:t>Custom Head</a:t>
            </a:r>
            <a:endParaRPr lang="en-US" sz="1300" dirty="0">
              <a:ln w="0"/>
              <a:solidFill>
                <a:schemeClr val="accent1"/>
              </a:solidFill>
              <a:effectLst>
                <a:outerShdw blurRad="38100" dist="25400" dir="5400000" algn="ctr" rotWithShape="0">
                  <a:srgbClr val="6E747A">
                    <a:alpha val="43000"/>
                  </a:srgbClr>
                </a:outerShdw>
              </a:effectLst>
            </a:endParaRPr>
          </a:p>
        </p:txBody>
      </p:sp>
      <p:sp>
        <p:nvSpPr>
          <p:cNvPr id="18" name="Text 16"/>
          <p:cNvSpPr/>
          <p:nvPr/>
        </p:nvSpPr>
        <p:spPr>
          <a:xfrm>
            <a:off x="4754880" y="1783080"/>
            <a:ext cx="1828800" cy="502920"/>
          </a:xfrm>
          <a:prstGeom prst="rect">
            <a:avLst/>
          </a:prstGeom>
          <a:noFill/>
          <a:ln/>
        </p:spPr>
        <p:txBody>
          <a:bodyPr wrap="square" rtlCol="0" anchor="ctr"/>
          <a:lstStyle/>
          <a:p>
            <a:pPr marL="0" indent="0" algn="ctr">
              <a:buNone/>
            </a:pPr>
            <a:r>
              <a:rPr lang="en-US" sz="1000" b="1" spc="50" dirty="0">
                <a:ln w="0"/>
                <a:solidFill>
                  <a:schemeClr val="bg2"/>
                </a:solidFill>
                <a:effectLst>
                  <a:innerShdw blurRad="63500" dist="50800" dir="13500000">
                    <a:srgbClr val="000000">
                      <a:alpha val="50000"/>
                    </a:srgbClr>
                  </a:innerShdw>
                </a:effectLst>
                <a:latin typeface="Calibri" pitchFamily="34" charset="0"/>
                <a:ea typeface="Calibri" pitchFamily="34" charset="-122"/>
                <a:cs typeface="Calibri" pitchFamily="34" charset="-120"/>
              </a:rPr>
              <a:t>Dense + Dropout</a:t>
            </a:r>
            <a:endParaRPr lang="en-US" sz="1000" b="1" spc="50" dirty="0">
              <a:ln w="0"/>
              <a:solidFill>
                <a:schemeClr val="bg2"/>
              </a:solidFill>
              <a:effectLst>
                <a:innerShdw blurRad="63500" dist="50800" dir="13500000">
                  <a:srgbClr val="000000">
                    <a:alpha val="50000"/>
                  </a:srgbClr>
                </a:innerShdw>
              </a:effectLst>
            </a:endParaRPr>
          </a:p>
          <a:p>
            <a:pPr marL="0" indent="0" algn="ctr">
              <a:buNone/>
            </a:pPr>
            <a:r>
              <a:rPr lang="en-US" sz="1000" b="1" spc="50" dirty="0">
                <a:ln w="0"/>
                <a:solidFill>
                  <a:schemeClr val="bg2"/>
                </a:solidFill>
                <a:effectLst>
                  <a:innerShdw blurRad="63500" dist="50800" dir="13500000">
                    <a:srgbClr val="000000">
                      <a:alpha val="50000"/>
                    </a:srgbClr>
                  </a:innerShdw>
                </a:effectLst>
                <a:latin typeface="Calibri" pitchFamily="34" charset="0"/>
                <a:ea typeface="Calibri" pitchFamily="34" charset="-122"/>
                <a:cs typeface="Calibri" pitchFamily="34" charset="-120"/>
              </a:rPr>
              <a:t>Layers</a:t>
            </a:r>
            <a:endParaRPr lang="en-US" sz="1000" b="1" spc="50" dirty="0">
              <a:ln w="0"/>
              <a:solidFill>
                <a:schemeClr val="bg2"/>
              </a:solidFill>
              <a:effectLst>
                <a:innerShdw blurRad="63500" dist="50800" dir="13500000">
                  <a:srgbClr val="000000">
                    <a:alpha val="50000"/>
                  </a:srgbClr>
                </a:innerShdw>
              </a:effectLst>
            </a:endParaRPr>
          </a:p>
        </p:txBody>
      </p:sp>
      <p:sp>
        <p:nvSpPr>
          <p:cNvPr id="19" name="Text 17"/>
          <p:cNvSpPr/>
          <p:nvPr/>
        </p:nvSpPr>
        <p:spPr>
          <a:xfrm>
            <a:off x="6583680" y="1371600"/>
            <a:ext cx="320040" cy="548640"/>
          </a:xfrm>
          <a:prstGeom prst="rect">
            <a:avLst/>
          </a:prstGeom>
          <a:noFill/>
          <a:ln/>
        </p:spPr>
        <p:txBody>
          <a:bodyPr wrap="square" rtlCol="0" anchor="ctr"/>
          <a:lstStyle/>
          <a:p>
            <a:pPr marL="0" indent="0" algn="ctr">
              <a:buNone/>
            </a:pPr>
            <a:r>
              <a:rPr lang="en-US" sz="2200" b="1" dirty="0">
                <a:solidFill>
                  <a:srgbClr val="2D6A4F"/>
                </a:solidFill>
                <a:latin typeface="Calibri" pitchFamily="34" charset="0"/>
                <a:ea typeface="Calibri" pitchFamily="34" charset="-122"/>
                <a:cs typeface="Calibri" pitchFamily="34" charset="-120"/>
              </a:rPr>
              <a:t>→</a:t>
            </a:r>
            <a:endParaRPr lang="en-US" sz="2200" dirty="0"/>
          </a:p>
        </p:txBody>
      </p:sp>
      <p:sp>
        <p:nvSpPr>
          <p:cNvPr id="20" name="Shape 18"/>
          <p:cNvSpPr/>
          <p:nvPr/>
        </p:nvSpPr>
        <p:spPr>
          <a:xfrm>
            <a:off x="6903720" y="1005840"/>
            <a:ext cx="1828800" cy="1371600"/>
          </a:xfrm>
          <a:prstGeom prst="rect">
            <a:avLst/>
          </a:prstGeom>
          <a:ln/>
        </p:spPr>
        <p:style>
          <a:lnRef idx="2">
            <a:schemeClr val="accent2"/>
          </a:lnRef>
          <a:fillRef idx="1">
            <a:schemeClr val="lt1"/>
          </a:fillRef>
          <a:effectRef idx="0">
            <a:schemeClr val="accent2"/>
          </a:effectRef>
          <a:fontRef idx="minor">
            <a:schemeClr val="dk1"/>
          </a:fontRef>
        </p:style>
      </p:sp>
      <p:sp>
        <p:nvSpPr>
          <p:cNvPr id="21" name="Text 19"/>
          <p:cNvSpPr/>
          <p:nvPr/>
        </p:nvSpPr>
        <p:spPr>
          <a:xfrm>
            <a:off x="6903720" y="1024128"/>
            <a:ext cx="1828800" cy="45720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2" name="Text 20"/>
          <p:cNvSpPr/>
          <p:nvPr/>
        </p:nvSpPr>
        <p:spPr>
          <a:xfrm>
            <a:off x="6903720" y="1444752"/>
            <a:ext cx="1828800" cy="365760"/>
          </a:xfrm>
          <a:prstGeom prst="rect">
            <a:avLst/>
          </a:prstGeom>
          <a:noFill/>
          <a:ln/>
        </p:spPr>
        <p:txBody>
          <a:bodyPr wrap="square" rtlCol="0" anchor="ctr"/>
          <a:lstStyle/>
          <a:p>
            <a:pPr marL="0" indent="0" algn="ctr">
              <a:buNone/>
            </a:pPr>
            <a:r>
              <a:rPr lang="en-US" sz="1300" dirty="0">
                <a:ln w="0"/>
                <a:gradFill>
                  <a:gsLst>
                    <a:gs pos="21000">
                      <a:srgbClr val="53575C"/>
                    </a:gs>
                    <a:gs pos="88000">
                      <a:srgbClr val="C5C7CA"/>
                    </a:gs>
                  </a:gsLst>
                  <a:lin ang="5400000"/>
                </a:gradFill>
                <a:latin typeface="Calibri" pitchFamily="34" charset="0"/>
                <a:ea typeface="Calibri" pitchFamily="34" charset="-122"/>
                <a:cs typeface="Calibri" pitchFamily="34" charset="-120"/>
              </a:rPr>
              <a:t>Output</a:t>
            </a:r>
            <a:endParaRPr lang="en-US" sz="1300" dirty="0">
              <a:ln w="0"/>
              <a:gradFill>
                <a:gsLst>
                  <a:gs pos="21000">
                    <a:srgbClr val="53575C"/>
                  </a:gs>
                  <a:gs pos="88000">
                    <a:srgbClr val="C5C7CA"/>
                  </a:gs>
                </a:gsLst>
                <a:lin ang="5400000"/>
              </a:gradFill>
            </a:endParaRPr>
          </a:p>
        </p:txBody>
      </p:sp>
      <p:sp>
        <p:nvSpPr>
          <p:cNvPr id="23" name="Text 21"/>
          <p:cNvSpPr/>
          <p:nvPr/>
        </p:nvSpPr>
        <p:spPr>
          <a:xfrm>
            <a:off x="6903720" y="1783080"/>
            <a:ext cx="1828800" cy="502920"/>
          </a:xfrm>
          <a:prstGeom prst="rect">
            <a:avLst/>
          </a:prstGeom>
          <a:noFill/>
          <a:ln/>
        </p:spPr>
        <p:txBody>
          <a:bodyPr wrap="square" rtlCol="0" anchor="ctr"/>
          <a:lstStyle/>
          <a:p>
            <a:pPr marL="0" indent="0" algn="ctr">
              <a:buNone/>
            </a:pPr>
            <a:r>
              <a:rPr lang="en-US" sz="1000" b="1" spc="50" dirty="0">
                <a:ln w="0"/>
                <a:solidFill>
                  <a:schemeClr val="bg2"/>
                </a:solidFill>
                <a:effectLst>
                  <a:innerShdw blurRad="63500" dist="50800" dir="13500000">
                    <a:srgbClr val="000000">
                      <a:alpha val="50000"/>
                    </a:srgbClr>
                  </a:innerShdw>
                </a:effectLst>
                <a:latin typeface="Calibri" pitchFamily="34" charset="0"/>
                <a:ea typeface="Calibri" pitchFamily="34" charset="-122"/>
                <a:cs typeface="Calibri" pitchFamily="34" charset="-120"/>
              </a:rPr>
              <a:t>Fresh / Rotten</a:t>
            </a:r>
            <a:endParaRPr lang="en-US" sz="1000" b="1" spc="50" dirty="0">
              <a:ln w="0"/>
              <a:solidFill>
                <a:schemeClr val="bg2"/>
              </a:solidFill>
              <a:effectLst>
                <a:innerShdw blurRad="63500" dist="50800" dir="13500000">
                  <a:srgbClr val="000000">
                    <a:alpha val="50000"/>
                  </a:srgbClr>
                </a:innerShdw>
              </a:effectLst>
            </a:endParaRPr>
          </a:p>
          <a:p>
            <a:pPr marL="0" indent="0" algn="ctr">
              <a:buNone/>
            </a:pPr>
            <a:r>
              <a:rPr lang="en-US" sz="1000" b="1" spc="50" dirty="0">
                <a:ln w="0"/>
                <a:solidFill>
                  <a:schemeClr val="bg2"/>
                </a:solidFill>
                <a:effectLst>
                  <a:innerShdw blurRad="63500" dist="50800" dir="13500000">
                    <a:srgbClr val="000000">
                      <a:alpha val="50000"/>
                    </a:srgbClr>
                  </a:innerShdw>
                </a:effectLst>
                <a:latin typeface="Calibri" pitchFamily="34" charset="0"/>
                <a:ea typeface="Calibri" pitchFamily="34" charset="-122"/>
                <a:cs typeface="Calibri" pitchFamily="34" charset="-120"/>
              </a:rPr>
              <a:t>6 Classes</a:t>
            </a:r>
            <a:endParaRPr lang="en-US" sz="1000" b="1" spc="50" dirty="0">
              <a:ln w="0"/>
              <a:solidFill>
                <a:schemeClr val="bg2"/>
              </a:solidFill>
              <a:effectLst>
                <a:innerShdw blurRad="63500" dist="50800" dir="13500000">
                  <a:srgbClr val="000000">
                    <a:alpha val="50000"/>
                  </a:srgbClr>
                </a:innerShdw>
              </a:effectLst>
            </a:endParaRPr>
          </a:p>
        </p:txBody>
      </p:sp>
      <p:sp>
        <p:nvSpPr>
          <p:cNvPr id="24" name="Text 22"/>
          <p:cNvSpPr/>
          <p:nvPr/>
        </p:nvSpPr>
        <p:spPr>
          <a:xfrm>
            <a:off x="365760" y="2606040"/>
            <a:ext cx="8412480" cy="365760"/>
          </a:xfrm>
          <a:prstGeom prst="rect">
            <a:avLst/>
          </a:prstGeom>
          <a:noFill/>
          <a:ln/>
        </p:spPr>
        <p:txBody>
          <a:bodyPr wrap="square" rtlCol="0" anchor="ctr"/>
          <a:lstStyle/>
          <a:p>
            <a:pPr marL="0" indent="0">
              <a:buNone/>
            </a:pPr>
            <a:r>
              <a:rPr lang="en-US" sz="1600" b="1" dirty="0">
                <a:solidFill>
                  <a:srgbClr val="1B4332"/>
                </a:solidFill>
                <a:latin typeface="Georgia" pitchFamily="34" charset="0"/>
                <a:ea typeface="Georgia" pitchFamily="34" charset="-122"/>
                <a:cs typeface="Georgia" pitchFamily="34" charset="-120"/>
              </a:rPr>
              <a:t>Why MobileNetV2?</a:t>
            </a:r>
            <a:endParaRPr lang="en-US" sz="1600" dirty="0"/>
          </a:p>
        </p:txBody>
      </p:sp>
      <p:sp>
        <p:nvSpPr>
          <p:cNvPr id="25" name="Shape 23"/>
          <p:cNvSpPr/>
          <p:nvPr/>
        </p:nvSpPr>
        <p:spPr>
          <a:xfrm>
            <a:off x="274320" y="3063240"/>
            <a:ext cx="4023360" cy="594360"/>
          </a:xfrm>
          <a:prstGeom prst="rect">
            <a:avLst/>
          </a:prstGeom>
          <a:solidFill>
            <a:srgbClr val="F4F6F4"/>
          </a:solidFill>
          <a:ln/>
        </p:spPr>
      </p:sp>
      <p:sp>
        <p:nvSpPr>
          <p:cNvPr id="26" name="Text 24"/>
          <p:cNvSpPr/>
          <p:nvPr/>
        </p:nvSpPr>
        <p:spPr>
          <a:xfrm>
            <a:off x="411480" y="3108960"/>
            <a:ext cx="1645920" cy="502920"/>
          </a:xfrm>
          <a:prstGeom prst="rect">
            <a:avLst/>
          </a:prstGeom>
          <a:noFill/>
          <a:ln/>
        </p:spPr>
        <p:txBody>
          <a:bodyPr wrap="square" rtlCol="0" anchor="ctr"/>
          <a:lstStyle/>
          <a:p>
            <a:pPr marL="0" indent="0">
              <a:buNone/>
            </a:pPr>
            <a:r>
              <a:rPr lang="en-US" sz="1200" b="1" dirty="0">
                <a:solidFill>
                  <a:srgbClr val="2D6A4F"/>
                </a:solidFill>
                <a:latin typeface="Calibri" pitchFamily="34" charset="0"/>
                <a:ea typeface="Calibri" pitchFamily="34" charset="-122"/>
                <a:cs typeface="Calibri" pitchFamily="34" charset="-120"/>
              </a:rPr>
              <a:t>Lightweight</a:t>
            </a:r>
            <a:endParaRPr lang="en-US" sz="1200" dirty="0"/>
          </a:p>
        </p:txBody>
      </p:sp>
      <p:sp>
        <p:nvSpPr>
          <p:cNvPr id="27" name="Text 25"/>
          <p:cNvSpPr/>
          <p:nvPr/>
        </p:nvSpPr>
        <p:spPr>
          <a:xfrm>
            <a:off x="2011680" y="3108960"/>
            <a:ext cx="2103120" cy="502920"/>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Runs on free Colab GPU without issues</a:t>
            </a:r>
            <a:endParaRPr lang="en-US" sz="1100" dirty="0"/>
          </a:p>
        </p:txBody>
      </p:sp>
      <p:sp>
        <p:nvSpPr>
          <p:cNvPr id="28" name="Shape 26"/>
          <p:cNvSpPr/>
          <p:nvPr/>
        </p:nvSpPr>
        <p:spPr>
          <a:xfrm>
            <a:off x="4754880" y="3063240"/>
            <a:ext cx="4023360" cy="594360"/>
          </a:xfrm>
          <a:prstGeom prst="rect">
            <a:avLst/>
          </a:prstGeom>
          <a:solidFill>
            <a:srgbClr val="F4F6F4"/>
          </a:solidFill>
          <a:ln/>
        </p:spPr>
      </p:sp>
      <p:sp>
        <p:nvSpPr>
          <p:cNvPr id="29" name="Text 27"/>
          <p:cNvSpPr/>
          <p:nvPr/>
        </p:nvSpPr>
        <p:spPr>
          <a:xfrm>
            <a:off x="4892040" y="3108960"/>
            <a:ext cx="1645920" cy="502920"/>
          </a:xfrm>
          <a:prstGeom prst="rect">
            <a:avLst/>
          </a:prstGeom>
          <a:noFill/>
          <a:ln/>
        </p:spPr>
        <p:txBody>
          <a:bodyPr wrap="square" rtlCol="0" anchor="ctr"/>
          <a:lstStyle/>
          <a:p>
            <a:pPr marL="0" indent="0">
              <a:buNone/>
            </a:pPr>
            <a:r>
              <a:rPr lang="en-US" sz="1200" b="1" dirty="0">
                <a:solidFill>
                  <a:srgbClr val="2D6A4F"/>
                </a:solidFill>
                <a:latin typeface="Calibri" pitchFamily="34" charset="0"/>
                <a:ea typeface="Calibri" pitchFamily="34" charset="-122"/>
                <a:cs typeface="Calibri" pitchFamily="34" charset="-120"/>
              </a:rPr>
              <a:t>High Accuracy</a:t>
            </a:r>
            <a:endParaRPr lang="en-US" sz="1200" dirty="0"/>
          </a:p>
        </p:txBody>
      </p:sp>
      <p:sp>
        <p:nvSpPr>
          <p:cNvPr id="30" name="Text 28"/>
          <p:cNvSpPr/>
          <p:nvPr/>
        </p:nvSpPr>
        <p:spPr>
          <a:xfrm>
            <a:off x="6492240" y="3108960"/>
            <a:ext cx="2103120" cy="502920"/>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~95%+ accuracy on fruit classification</a:t>
            </a:r>
            <a:endParaRPr lang="en-US" sz="1100" dirty="0"/>
          </a:p>
        </p:txBody>
      </p:sp>
      <p:sp>
        <p:nvSpPr>
          <p:cNvPr id="31" name="Shape 29"/>
          <p:cNvSpPr/>
          <p:nvPr/>
        </p:nvSpPr>
        <p:spPr>
          <a:xfrm>
            <a:off x="274320" y="3794760"/>
            <a:ext cx="4023360" cy="594360"/>
          </a:xfrm>
          <a:prstGeom prst="rect">
            <a:avLst/>
          </a:prstGeom>
          <a:solidFill>
            <a:srgbClr val="F4F6F4"/>
          </a:solidFill>
          <a:ln/>
        </p:spPr>
      </p:sp>
      <p:sp>
        <p:nvSpPr>
          <p:cNvPr id="32" name="Text 30"/>
          <p:cNvSpPr/>
          <p:nvPr/>
        </p:nvSpPr>
        <p:spPr>
          <a:xfrm>
            <a:off x="411480" y="3840480"/>
            <a:ext cx="1645920" cy="502920"/>
          </a:xfrm>
          <a:prstGeom prst="rect">
            <a:avLst/>
          </a:prstGeom>
          <a:noFill/>
          <a:ln/>
        </p:spPr>
        <p:txBody>
          <a:bodyPr wrap="square" rtlCol="0" anchor="ctr"/>
          <a:lstStyle/>
          <a:p>
            <a:pPr marL="0" indent="0">
              <a:buNone/>
            </a:pPr>
            <a:r>
              <a:rPr lang="en-US" sz="1200" b="1" dirty="0">
                <a:solidFill>
                  <a:srgbClr val="2D6A4F"/>
                </a:solidFill>
                <a:latin typeface="Calibri" pitchFamily="34" charset="0"/>
                <a:ea typeface="Calibri" pitchFamily="34" charset="-122"/>
                <a:cs typeface="Calibri" pitchFamily="34" charset="-120"/>
              </a:rPr>
              <a:t> Pre-trained</a:t>
            </a:r>
            <a:endParaRPr lang="en-US" sz="1200" dirty="0"/>
          </a:p>
        </p:txBody>
      </p:sp>
      <p:sp>
        <p:nvSpPr>
          <p:cNvPr id="33" name="Text 31"/>
          <p:cNvSpPr/>
          <p:nvPr/>
        </p:nvSpPr>
        <p:spPr>
          <a:xfrm>
            <a:off x="2011680" y="3840480"/>
            <a:ext cx="2103120" cy="502920"/>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ImageNet weights — already knows visual features</a:t>
            </a:r>
            <a:endParaRPr lang="en-US" sz="1100" dirty="0"/>
          </a:p>
        </p:txBody>
      </p:sp>
      <p:sp>
        <p:nvSpPr>
          <p:cNvPr id="34" name="Shape 32"/>
          <p:cNvSpPr/>
          <p:nvPr/>
        </p:nvSpPr>
        <p:spPr>
          <a:xfrm>
            <a:off x="4754880" y="3794760"/>
            <a:ext cx="4023360" cy="594360"/>
          </a:xfrm>
          <a:prstGeom prst="rect">
            <a:avLst/>
          </a:prstGeom>
          <a:solidFill>
            <a:srgbClr val="F4F6F4"/>
          </a:solidFill>
          <a:ln/>
        </p:spPr>
      </p:sp>
      <p:sp>
        <p:nvSpPr>
          <p:cNvPr id="35" name="Text 33"/>
          <p:cNvSpPr/>
          <p:nvPr/>
        </p:nvSpPr>
        <p:spPr>
          <a:xfrm>
            <a:off x="4892040" y="3840480"/>
            <a:ext cx="1645920" cy="502920"/>
          </a:xfrm>
          <a:prstGeom prst="rect">
            <a:avLst/>
          </a:prstGeom>
          <a:noFill/>
          <a:ln/>
        </p:spPr>
        <p:txBody>
          <a:bodyPr wrap="square" rtlCol="0" anchor="ctr"/>
          <a:lstStyle/>
          <a:p>
            <a:pPr marL="0" indent="0">
              <a:buNone/>
            </a:pPr>
            <a:r>
              <a:rPr lang="en-US" sz="1200" b="1" dirty="0">
                <a:solidFill>
                  <a:srgbClr val="2D6A4F"/>
                </a:solidFill>
                <a:latin typeface="Calibri" pitchFamily="34" charset="0"/>
                <a:ea typeface="Calibri" pitchFamily="34" charset="-122"/>
                <a:cs typeface="Calibri" pitchFamily="34" charset="-120"/>
              </a:rPr>
              <a:t>Efficient</a:t>
            </a:r>
            <a:endParaRPr lang="en-US" sz="1200" dirty="0"/>
          </a:p>
        </p:txBody>
      </p:sp>
      <p:sp>
        <p:nvSpPr>
          <p:cNvPr id="36" name="Text 34"/>
          <p:cNvSpPr/>
          <p:nvPr/>
        </p:nvSpPr>
        <p:spPr>
          <a:xfrm>
            <a:off x="6492240" y="3840480"/>
            <a:ext cx="2103120" cy="502920"/>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Depthwise separable convolutions save compute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D6A4F"/>
          </a:solidFill>
          <a:ln/>
        </p:spPr>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Model Architecture &amp; Training</a:t>
            </a:r>
            <a:endParaRPr lang="en-US" sz="2600" dirty="0"/>
          </a:p>
        </p:txBody>
      </p:sp>
      <p:sp>
        <p:nvSpPr>
          <p:cNvPr id="4" name="Text 2"/>
          <p:cNvSpPr/>
          <p:nvPr/>
        </p:nvSpPr>
        <p:spPr>
          <a:xfrm>
            <a:off x="8046720" y="91440"/>
            <a:ext cx="731520" cy="731520"/>
          </a:xfrm>
          <a:prstGeom prst="rect">
            <a:avLst/>
          </a:prstGeom>
          <a:noFill/>
          <a:ln/>
        </p:spPr>
        <p:txBody>
          <a:bodyPr wrap="square" rtlCol="0" anchor="ctr"/>
          <a:lstStyle/>
          <a:p>
            <a:pPr marL="0" indent="0" algn="r">
              <a:buNone/>
            </a:pP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5029200" cy="3840480"/>
        </p:xfrm>
        <a:graphic>
          <a:graphicData uri="http://schemas.openxmlformats.org/drawingml/2006/table">
            <a:tbl>
              <a:tblPr/>
              <a:tblGrid>
                <a:gridCol w="18288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4800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Details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extLst>
                  <a:ext uri="{0D108BD9-81ED-4DB2-BD59-A6C34878D82A}">
                    <a16:rowId xmlns:a16="http://schemas.microsoft.com/office/drawing/2014/main" val="10000"/>
                  </a:ext>
                </a:extLst>
              </a:tr>
              <a:tr h="480060">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MobileNetV2 Base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Pre-trained ImageNet (Frozen)</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7×7×1280</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1"/>
                  </a:ext>
                </a:extLst>
              </a:tr>
              <a:tr h="480060">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Global Avg Pooling</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Flatten spatial dimensions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1280</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480060">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Dense (256, ReLU)</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Fully connected layer</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256</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3"/>
                  </a:ext>
                </a:extLst>
              </a:tr>
              <a:tr h="480060">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Dropout 0.4</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Regularization</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256</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480060">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Dense (128, ReLU)</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Fully connected layer</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128</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5"/>
                  </a:ext>
                </a:extLst>
              </a:tr>
              <a:tr h="480060">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Dropout 0.3</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Regularization</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128</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6"/>
                  </a:ext>
                </a:extLst>
              </a:tr>
              <a:tr h="480060">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Dense (Softmax)</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6 output classes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7"/>
                  </a:ext>
                </a:extLst>
              </a:tr>
            </a:tbl>
          </a:graphicData>
        </a:graphic>
      </p:graphicFrame>
      <p:sp>
        <p:nvSpPr>
          <p:cNvPr id="5" name="Text 3"/>
          <p:cNvSpPr/>
          <p:nvPr/>
        </p:nvSpPr>
        <p:spPr>
          <a:xfrm>
            <a:off x="5669280" y="1005840"/>
            <a:ext cx="3200400" cy="365760"/>
          </a:xfrm>
          <a:prstGeom prst="rect">
            <a:avLst/>
          </a:prstGeom>
          <a:noFill/>
          <a:ln/>
        </p:spPr>
        <p:txBody>
          <a:bodyPr wrap="square" rtlCol="0" anchor="ctr"/>
          <a:lstStyle/>
          <a:p>
            <a:pPr marL="0" indent="0">
              <a:buNone/>
            </a:pPr>
            <a:r>
              <a:rPr lang="en-US" sz="1400" b="1" dirty="0">
                <a:solidFill>
                  <a:srgbClr val="1B4332"/>
                </a:solidFill>
                <a:latin typeface="Georgia" pitchFamily="34" charset="0"/>
                <a:ea typeface="Georgia" pitchFamily="34" charset="-122"/>
                <a:cs typeface="Georgia" pitchFamily="34" charset="-120"/>
              </a:rPr>
              <a:t>Training Configuration</a:t>
            </a:r>
            <a:endParaRPr lang="en-US" sz="1400" dirty="0"/>
          </a:p>
        </p:txBody>
      </p:sp>
      <p:sp>
        <p:nvSpPr>
          <p:cNvPr id="7" name="Shape 4"/>
          <p:cNvSpPr/>
          <p:nvPr/>
        </p:nvSpPr>
        <p:spPr>
          <a:xfrm>
            <a:off x="5577840" y="1463040"/>
            <a:ext cx="3291840" cy="475488"/>
          </a:xfrm>
          <a:prstGeom prst="rect">
            <a:avLst/>
          </a:prstGeom>
          <a:solidFill>
            <a:srgbClr val="F4F6F4"/>
          </a:solidFill>
          <a:ln/>
        </p:spPr>
      </p:sp>
      <p:sp>
        <p:nvSpPr>
          <p:cNvPr id="8" name="Text 5"/>
          <p:cNvSpPr/>
          <p:nvPr/>
        </p:nvSpPr>
        <p:spPr>
          <a:xfrm>
            <a:off x="5623560" y="1481328"/>
            <a:ext cx="1280160" cy="438912"/>
          </a:xfrm>
          <a:prstGeom prst="rect">
            <a:avLst/>
          </a:prstGeom>
          <a:noFill/>
          <a:ln/>
        </p:spPr>
        <p:txBody>
          <a:bodyPr wrap="square" rtlCol="0" anchor="ctr"/>
          <a:lstStyle/>
          <a:p>
            <a:pPr marL="0" indent="0">
              <a:buNone/>
            </a:pPr>
            <a:r>
              <a:rPr lang="en-US" sz="1000" b="1" dirty="0">
                <a:solidFill>
                  <a:srgbClr val="2D6A4F"/>
                </a:solidFill>
                <a:latin typeface="Calibri" pitchFamily="34" charset="0"/>
                <a:ea typeface="Calibri" pitchFamily="34" charset="-122"/>
                <a:cs typeface="Calibri" pitchFamily="34" charset="-120"/>
              </a:rPr>
              <a:t>Optimizer</a:t>
            </a:r>
            <a:endParaRPr lang="en-US" sz="1000" dirty="0"/>
          </a:p>
        </p:txBody>
      </p:sp>
      <p:sp>
        <p:nvSpPr>
          <p:cNvPr id="9" name="Text 6"/>
          <p:cNvSpPr/>
          <p:nvPr/>
        </p:nvSpPr>
        <p:spPr>
          <a:xfrm>
            <a:off x="6903720" y="1481328"/>
            <a:ext cx="192024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Adam (lr=0.0001)</a:t>
            </a:r>
            <a:endParaRPr lang="en-US" sz="1000" dirty="0"/>
          </a:p>
        </p:txBody>
      </p:sp>
      <p:sp>
        <p:nvSpPr>
          <p:cNvPr id="10" name="Shape 7"/>
          <p:cNvSpPr/>
          <p:nvPr/>
        </p:nvSpPr>
        <p:spPr>
          <a:xfrm>
            <a:off x="5577840" y="2011680"/>
            <a:ext cx="3291840" cy="475488"/>
          </a:xfrm>
          <a:prstGeom prst="rect">
            <a:avLst/>
          </a:prstGeom>
          <a:solidFill>
            <a:srgbClr val="FFFFFF"/>
          </a:solidFill>
          <a:ln/>
        </p:spPr>
      </p:sp>
      <p:sp>
        <p:nvSpPr>
          <p:cNvPr id="11" name="Text 8"/>
          <p:cNvSpPr/>
          <p:nvPr/>
        </p:nvSpPr>
        <p:spPr>
          <a:xfrm>
            <a:off x="5623560" y="2029968"/>
            <a:ext cx="1280160" cy="438912"/>
          </a:xfrm>
          <a:prstGeom prst="rect">
            <a:avLst/>
          </a:prstGeom>
          <a:noFill/>
          <a:ln/>
        </p:spPr>
        <p:txBody>
          <a:bodyPr wrap="square" rtlCol="0" anchor="ctr"/>
          <a:lstStyle/>
          <a:p>
            <a:pPr marL="0" indent="0">
              <a:buNone/>
            </a:pPr>
            <a:r>
              <a:rPr lang="en-US" sz="1000" b="1" dirty="0">
                <a:solidFill>
                  <a:srgbClr val="2D6A4F"/>
                </a:solidFill>
                <a:latin typeface="Calibri" pitchFamily="34" charset="0"/>
                <a:ea typeface="Calibri" pitchFamily="34" charset="-122"/>
                <a:cs typeface="Calibri" pitchFamily="34" charset="-120"/>
              </a:rPr>
              <a:t>Loss</a:t>
            </a:r>
            <a:endParaRPr lang="en-US" sz="1000" dirty="0"/>
          </a:p>
        </p:txBody>
      </p:sp>
      <p:sp>
        <p:nvSpPr>
          <p:cNvPr id="12" name="Text 9"/>
          <p:cNvSpPr/>
          <p:nvPr/>
        </p:nvSpPr>
        <p:spPr>
          <a:xfrm>
            <a:off x="6903720" y="2029968"/>
            <a:ext cx="192024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Categorical Cross-Entropy</a:t>
            </a:r>
            <a:endParaRPr lang="en-US" sz="1000" dirty="0"/>
          </a:p>
        </p:txBody>
      </p:sp>
      <p:sp>
        <p:nvSpPr>
          <p:cNvPr id="13" name="Shape 10"/>
          <p:cNvSpPr/>
          <p:nvPr/>
        </p:nvSpPr>
        <p:spPr>
          <a:xfrm>
            <a:off x="5577840" y="2560320"/>
            <a:ext cx="3291840" cy="475488"/>
          </a:xfrm>
          <a:prstGeom prst="rect">
            <a:avLst/>
          </a:prstGeom>
          <a:solidFill>
            <a:srgbClr val="F4F6F4"/>
          </a:solidFill>
          <a:ln/>
        </p:spPr>
      </p:sp>
      <p:sp>
        <p:nvSpPr>
          <p:cNvPr id="14" name="Text 11"/>
          <p:cNvSpPr/>
          <p:nvPr/>
        </p:nvSpPr>
        <p:spPr>
          <a:xfrm>
            <a:off x="5623560" y="2578608"/>
            <a:ext cx="1280160" cy="438912"/>
          </a:xfrm>
          <a:prstGeom prst="rect">
            <a:avLst/>
          </a:prstGeom>
          <a:noFill/>
          <a:ln/>
        </p:spPr>
        <p:txBody>
          <a:bodyPr wrap="square" rtlCol="0" anchor="ctr"/>
          <a:lstStyle/>
          <a:p>
            <a:pPr marL="0" indent="0">
              <a:buNone/>
            </a:pPr>
            <a:r>
              <a:rPr lang="en-US" sz="1000" b="1" dirty="0">
                <a:solidFill>
                  <a:srgbClr val="2D6A4F"/>
                </a:solidFill>
                <a:latin typeface="Calibri" pitchFamily="34" charset="0"/>
                <a:ea typeface="Calibri" pitchFamily="34" charset="-122"/>
                <a:cs typeface="Calibri" pitchFamily="34" charset="-120"/>
              </a:rPr>
              <a:t>Epochs</a:t>
            </a:r>
            <a:endParaRPr lang="en-US" sz="1000" dirty="0"/>
          </a:p>
        </p:txBody>
      </p:sp>
      <p:sp>
        <p:nvSpPr>
          <p:cNvPr id="15" name="Text 12"/>
          <p:cNvSpPr/>
          <p:nvPr/>
        </p:nvSpPr>
        <p:spPr>
          <a:xfrm>
            <a:off x="6903720" y="2578608"/>
            <a:ext cx="192024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Up to 20 (EarlyStopping)</a:t>
            </a:r>
            <a:endParaRPr lang="en-US" sz="1000" dirty="0"/>
          </a:p>
        </p:txBody>
      </p:sp>
      <p:sp>
        <p:nvSpPr>
          <p:cNvPr id="16" name="Shape 13"/>
          <p:cNvSpPr/>
          <p:nvPr/>
        </p:nvSpPr>
        <p:spPr>
          <a:xfrm>
            <a:off x="5577840" y="3108960"/>
            <a:ext cx="3291840" cy="475488"/>
          </a:xfrm>
          <a:prstGeom prst="rect">
            <a:avLst/>
          </a:prstGeom>
          <a:solidFill>
            <a:srgbClr val="FFFFFF"/>
          </a:solidFill>
          <a:ln/>
        </p:spPr>
      </p:sp>
      <p:sp>
        <p:nvSpPr>
          <p:cNvPr id="17" name="Text 14"/>
          <p:cNvSpPr/>
          <p:nvPr/>
        </p:nvSpPr>
        <p:spPr>
          <a:xfrm>
            <a:off x="5623560" y="3127248"/>
            <a:ext cx="1280160" cy="438912"/>
          </a:xfrm>
          <a:prstGeom prst="rect">
            <a:avLst/>
          </a:prstGeom>
          <a:noFill/>
          <a:ln/>
        </p:spPr>
        <p:txBody>
          <a:bodyPr wrap="square" rtlCol="0" anchor="ctr"/>
          <a:lstStyle/>
          <a:p>
            <a:pPr marL="0" indent="0">
              <a:buNone/>
            </a:pPr>
            <a:r>
              <a:rPr lang="en-US" sz="1000" b="1" dirty="0">
                <a:solidFill>
                  <a:srgbClr val="2D6A4F"/>
                </a:solidFill>
                <a:latin typeface="Calibri" pitchFamily="34" charset="0"/>
                <a:ea typeface="Calibri" pitchFamily="34" charset="-122"/>
                <a:cs typeface="Calibri" pitchFamily="34" charset="-120"/>
              </a:rPr>
              <a:t>Batch Size</a:t>
            </a:r>
            <a:endParaRPr lang="en-US" sz="1000" dirty="0"/>
          </a:p>
        </p:txBody>
      </p:sp>
      <p:sp>
        <p:nvSpPr>
          <p:cNvPr id="18" name="Text 15"/>
          <p:cNvSpPr/>
          <p:nvPr/>
        </p:nvSpPr>
        <p:spPr>
          <a:xfrm>
            <a:off x="6903720" y="3127248"/>
            <a:ext cx="192024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32</a:t>
            </a:r>
            <a:endParaRPr lang="en-US" sz="1000" dirty="0"/>
          </a:p>
        </p:txBody>
      </p:sp>
      <p:sp>
        <p:nvSpPr>
          <p:cNvPr id="19" name="Shape 16"/>
          <p:cNvSpPr/>
          <p:nvPr/>
        </p:nvSpPr>
        <p:spPr>
          <a:xfrm>
            <a:off x="5577840" y="3657600"/>
            <a:ext cx="3291840" cy="475488"/>
          </a:xfrm>
          <a:prstGeom prst="rect">
            <a:avLst/>
          </a:prstGeom>
          <a:solidFill>
            <a:srgbClr val="F4F6F4"/>
          </a:solidFill>
          <a:ln/>
        </p:spPr>
      </p:sp>
      <p:sp>
        <p:nvSpPr>
          <p:cNvPr id="20" name="Text 17"/>
          <p:cNvSpPr/>
          <p:nvPr/>
        </p:nvSpPr>
        <p:spPr>
          <a:xfrm>
            <a:off x="5623560" y="3675888"/>
            <a:ext cx="1280160" cy="438912"/>
          </a:xfrm>
          <a:prstGeom prst="rect">
            <a:avLst/>
          </a:prstGeom>
          <a:noFill/>
          <a:ln/>
        </p:spPr>
        <p:txBody>
          <a:bodyPr wrap="square" rtlCol="0" anchor="ctr"/>
          <a:lstStyle/>
          <a:p>
            <a:pPr marL="0" indent="0">
              <a:buNone/>
            </a:pPr>
            <a:r>
              <a:rPr lang="en-US" sz="1000" b="1" dirty="0">
                <a:solidFill>
                  <a:srgbClr val="2D6A4F"/>
                </a:solidFill>
                <a:latin typeface="Calibri" pitchFamily="34" charset="0"/>
                <a:ea typeface="Calibri" pitchFamily="34" charset="-122"/>
                <a:cs typeface="Calibri" pitchFamily="34" charset="-120"/>
              </a:rPr>
              <a:t>Val Split</a:t>
            </a:r>
            <a:endParaRPr lang="en-US" sz="1000" dirty="0"/>
          </a:p>
        </p:txBody>
      </p:sp>
      <p:sp>
        <p:nvSpPr>
          <p:cNvPr id="21" name="Text 18"/>
          <p:cNvSpPr/>
          <p:nvPr/>
        </p:nvSpPr>
        <p:spPr>
          <a:xfrm>
            <a:off x="6903720" y="3675888"/>
            <a:ext cx="192024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80% Train / 20% Val</a:t>
            </a:r>
            <a:endParaRPr lang="en-US" sz="1000" dirty="0"/>
          </a:p>
        </p:txBody>
      </p:sp>
      <p:sp>
        <p:nvSpPr>
          <p:cNvPr id="22" name="Shape 19"/>
          <p:cNvSpPr/>
          <p:nvPr/>
        </p:nvSpPr>
        <p:spPr>
          <a:xfrm>
            <a:off x="5577840" y="4206240"/>
            <a:ext cx="3291840" cy="475488"/>
          </a:xfrm>
          <a:prstGeom prst="rect">
            <a:avLst/>
          </a:prstGeom>
          <a:solidFill>
            <a:srgbClr val="FFFFFF"/>
          </a:solidFill>
          <a:ln/>
        </p:spPr>
      </p:sp>
      <p:sp>
        <p:nvSpPr>
          <p:cNvPr id="23" name="Text 20"/>
          <p:cNvSpPr/>
          <p:nvPr/>
        </p:nvSpPr>
        <p:spPr>
          <a:xfrm>
            <a:off x="5623560" y="4224528"/>
            <a:ext cx="1280160" cy="438912"/>
          </a:xfrm>
          <a:prstGeom prst="rect">
            <a:avLst/>
          </a:prstGeom>
          <a:noFill/>
          <a:ln/>
        </p:spPr>
        <p:txBody>
          <a:bodyPr wrap="square" rtlCol="0" anchor="ctr"/>
          <a:lstStyle/>
          <a:p>
            <a:pPr marL="0" indent="0">
              <a:buNone/>
            </a:pPr>
            <a:r>
              <a:rPr lang="en-US" sz="1000" b="1" dirty="0">
                <a:solidFill>
                  <a:srgbClr val="2D6A4F"/>
                </a:solidFill>
                <a:latin typeface="Calibri" pitchFamily="34" charset="0"/>
                <a:ea typeface="Calibri" pitchFamily="34" charset="-122"/>
                <a:cs typeface="Calibri" pitchFamily="34" charset="-120"/>
              </a:rPr>
              <a:t>Callbacks</a:t>
            </a:r>
            <a:endParaRPr lang="en-US" sz="1000" dirty="0"/>
          </a:p>
        </p:txBody>
      </p:sp>
      <p:sp>
        <p:nvSpPr>
          <p:cNvPr id="24" name="Text 21"/>
          <p:cNvSpPr/>
          <p:nvPr/>
        </p:nvSpPr>
        <p:spPr>
          <a:xfrm>
            <a:off x="6903720" y="4224528"/>
            <a:ext cx="192024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EarlyStopping, ReduceLR,</a:t>
            </a:r>
            <a:endParaRPr lang="en-US" sz="1000" dirty="0"/>
          </a:p>
          <a:p>
            <a:pPr marL="0" indent="0">
              <a:buNone/>
            </a:pPr>
            <a:r>
              <a:rPr lang="en-US" sz="1000" dirty="0">
                <a:solidFill>
                  <a:srgbClr val="333333"/>
                </a:solidFill>
                <a:latin typeface="Calibri" pitchFamily="34" charset="0"/>
                <a:ea typeface="Calibri" pitchFamily="34" charset="-122"/>
                <a:cs typeface="Calibri" pitchFamily="34" charset="-120"/>
              </a:rPr>
              <a:t>ModelCheckpoint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332"/>
          </a:solidFill>
          <a:ln/>
        </p:spPr>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Results &amp; Evaluation</a:t>
            </a:r>
            <a:endParaRPr lang="en-US" sz="2800" dirty="0"/>
          </a:p>
        </p:txBody>
      </p:sp>
      <p:sp>
        <p:nvSpPr>
          <p:cNvPr id="4" name="Text 2"/>
          <p:cNvSpPr/>
          <p:nvPr/>
        </p:nvSpPr>
        <p:spPr>
          <a:xfrm>
            <a:off x="8046720" y="91440"/>
            <a:ext cx="731520" cy="731520"/>
          </a:xfrm>
          <a:prstGeom prst="rect">
            <a:avLst/>
          </a:prstGeom>
          <a:noFill/>
          <a:ln/>
        </p:spPr>
        <p:txBody>
          <a:bodyPr wrap="square" rtlCol="0" anchor="ctr"/>
          <a:lstStyle/>
          <a:p>
            <a:pPr marL="0" indent="0" algn="r">
              <a:buNone/>
            </a:pPr>
            <a:endParaRPr lang="en-US" sz="2800" dirty="0"/>
          </a:p>
        </p:txBody>
      </p:sp>
      <p:sp>
        <p:nvSpPr>
          <p:cNvPr id="5" name="Shape 3"/>
          <p:cNvSpPr/>
          <p:nvPr/>
        </p:nvSpPr>
        <p:spPr>
          <a:xfrm>
            <a:off x="274320" y="1005840"/>
            <a:ext cx="1920240" cy="1280160"/>
          </a:xfrm>
          <a:prstGeom prst="rect">
            <a:avLst/>
          </a:prstGeom>
          <a:ln/>
        </p:spPr>
        <p:style>
          <a:lnRef idx="2">
            <a:schemeClr val="accent2"/>
          </a:lnRef>
          <a:fillRef idx="1">
            <a:schemeClr val="lt1"/>
          </a:fillRef>
          <a:effectRef idx="0">
            <a:schemeClr val="accent2"/>
          </a:effectRef>
          <a:fontRef idx="minor">
            <a:schemeClr val="dk1"/>
          </a:fontRef>
        </p:style>
      </p:sp>
      <p:sp>
        <p:nvSpPr>
          <p:cNvPr id="6" name="Text 4"/>
          <p:cNvSpPr/>
          <p:nvPr/>
        </p:nvSpPr>
        <p:spPr>
          <a:xfrm>
            <a:off x="385618" y="1097280"/>
            <a:ext cx="1697644" cy="640080"/>
          </a:xfrm>
          <a:prstGeom prst="rect">
            <a:avLst/>
          </a:prstGeom>
          <a:noFill/>
          <a:ln/>
        </p:spPr>
        <p:txBody>
          <a:bodyPr wrap="square" rtlCol="0" anchor="ctr"/>
          <a:lstStyle/>
          <a:p>
            <a:pPr marL="0" indent="0" algn="ctr">
              <a:buNone/>
            </a:pPr>
            <a:r>
              <a:rPr lang="en-US" sz="3400" dirty="0">
                <a:ln w="0"/>
                <a:solidFill>
                  <a:schemeClr val="accent1"/>
                </a:solidFill>
                <a:effectLst>
                  <a:outerShdw blurRad="38100" dist="25400" dir="5400000" algn="ctr" rotWithShape="0">
                    <a:srgbClr val="6E747A">
                      <a:alpha val="43000"/>
                    </a:srgbClr>
                  </a:outerShdw>
                </a:effectLst>
                <a:latin typeface="Georgia" pitchFamily="34" charset="0"/>
                <a:ea typeface="Georgia" pitchFamily="34" charset="-122"/>
                <a:cs typeface="Georgia" pitchFamily="34" charset="-120"/>
              </a:rPr>
              <a:t>95%+</a:t>
            </a:r>
            <a:endParaRPr lang="en-US" sz="3400" dirty="0">
              <a:ln w="0"/>
              <a:solidFill>
                <a:schemeClr val="accent1"/>
              </a:solidFill>
              <a:effectLst>
                <a:outerShdw blurRad="38100" dist="25400" dir="5400000" algn="ctr" rotWithShape="0">
                  <a:srgbClr val="6E747A">
                    <a:alpha val="43000"/>
                  </a:srgbClr>
                </a:outerShdw>
              </a:effectLst>
            </a:endParaRPr>
          </a:p>
        </p:txBody>
      </p:sp>
      <p:sp>
        <p:nvSpPr>
          <p:cNvPr id="7" name="Text 5"/>
          <p:cNvSpPr/>
          <p:nvPr/>
        </p:nvSpPr>
        <p:spPr>
          <a:xfrm>
            <a:off x="274320" y="1737360"/>
            <a:ext cx="1920240" cy="411480"/>
          </a:xfrm>
          <a:prstGeom prst="rect">
            <a:avLst/>
          </a:prstGeom>
          <a:noFill/>
          <a:ln/>
        </p:spPr>
        <p:txBody>
          <a:bodyPr wrap="square" rtlCol="0" anchor="ctr"/>
          <a:lstStyle/>
          <a:p>
            <a:pPr marL="0" indent="0" algn="ctr">
              <a:buNone/>
            </a:pPr>
            <a:r>
              <a:rPr lang="en-US" sz="11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pitchFamily="34" charset="0"/>
                <a:ea typeface="Calibri" pitchFamily="34" charset="-122"/>
                <a:cs typeface="Calibri" pitchFamily="34" charset="-120"/>
              </a:rPr>
              <a:t>Test Accuracy</a:t>
            </a:r>
            <a:endParaRPr lang="en-US" sz="11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Shape 6"/>
          <p:cNvSpPr/>
          <p:nvPr/>
        </p:nvSpPr>
        <p:spPr>
          <a:xfrm>
            <a:off x="2394989" y="1005840"/>
            <a:ext cx="1920240" cy="1280160"/>
          </a:xfrm>
          <a:prstGeom prst="rect">
            <a:avLst/>
          </a:prstGeom>
          <a:ln/>
        </p:spPr>
        <p:style>
          <a:lnRef idx="2">
            <a:schemeClr val="accent5"/>
          </a:lnRef>
          <a:fillRef idx="1">
            <a:schemeClr val="lt1"/>
          </a:fillRef>
          <a:effectRef idx="0">
            <a:schemeClr val="accent5"/>
          </a:effectRef>
          <a:fontRef idx="minor">
            <a:schemeClr val="dk1"/>
          </a:fontRef>
        </p:style>
      </p:sp>
      <p:sp>
        <p:nvSpPr>
          <p:cNvPr id="9" name="Text 7"/>
          <p:cNvSpPr/>
          <p:nvPr/>
        </p:nvSpPr>
        <p:spPr>
          <a:xfrm>
            <a:off x="2468880" y="1097280"/>
            <a:ext cx="1920240" cy="685800"/>
          </a:xfrm>
          <a:prstGeom prst="rect">
            <a:avLst/>
          </a:prstGeom>
          <a:noFill/>
          <a:ln/>
        </p:spPr>
        <p:txBody>
          <a:bodyPr wrap="square" rtlCol="0" anchor="ctr"/>
          <a:lstStyle/>
          <a:p>
            <a:pPr marL="0" indent="0" algn="ctr">
              <a:buNone/>
            </a:pPr>
            <a:r>
              <a:rPr lang="en-US" sz="3400" dirty="0">
                <a:ln w="0"/>
                <a:gradFill>
                  <a:gsLst>
                    <a:gs pos="21000">
                      <a:srgbClr val="53575C"/>
                    </a:gs>
                    <a:gs pos="88000">
                      <a:srgbClr val="C5C7CA"/>
                    </a:gs>
                  </a:gsLst>
                  <a:lin ang="5400000"/>
                </a:gradFill>
                <a:latin typeface="Georgia" pitchFamily="34" charset="0"/>
                <a:ea typeface="Georgia" pitchFamily="34" charset="-122"/>
                <a:cs typeface="Georgia" pitchFamily="34" charset="-120"/>
              </a:rPr>
              <a:t>93%+</a:t>
            </a:r>
            <a:endParaRPr lang="en-US" sz="3400" dirty="0">
              <a:ln w="0"/>
              <a:gradFill>
                <a:gsLst>
                  <a:gs pos="21000">
                    <a:srgbClr val="53575C"/>
                  </a:gs>
                  <a:gs pos="88000">
                    <a:srgbClr val="C5C7CA"/>
                  </a:gs>
                </a:gsLst>
                <a:lin ang="5400000"/>
              </a:gradFill>
            </a:endParaRPr>
          </a:p>
        </p:txBody>
      </p:sp>
      <p:sp>
        <p:nvSpPr>
          <p:cNvPr id="10" name="Text 8"/>
          <p:cNvSpPr/>
          <p:nvPr/>
        </p:nvSpPr>
        <p:spPr>
          <a:xfrm>
            <a:off x="2468880" y="1737360"/>
            <a:ext cx="1920240" cy="411480"/>
          </a:xfrm>
          <a:prstGeom prst="rect">
            <a:avLst/>
          </a:prstGeom>
          <a:noFill/>
          <a:ln/>
        </p:spPr>
        <p:txBody>
          <a:bodyPr wrap="square" rtlCol="0" anchor="ctr"/>
          <a:lstStyle/>
          <a:p>
            <a:pPr marL="0" indent="0" algn="ctr">
              <a:buNone/>
            </a:pPr>
            <a:r>
              <a:rPr lang="en-US" sz="1100" b="1" spc="50" dirty="0">
                <a:ln w="0"/>
                <a:solidFill>
                  <a:schemeClr val="bg2"/>
                </a:solidFill>
                <a:effectLst>
                  <a:innerShdw blurRad="63500" dist="50800" dir="13500000">
                    <a:srgbClr val="000000">
                      <a:alpha val="50000"/>
                    </a:srgbClr>
                  </a:innerShdw>
                </a:effectLst>
                <a:latin typeface="Calibri" pitchFamily="34" charset="0"/>
                <a:ea typeface="Calibri" pitchFamily="34" charset="-122"/>
                <a:cs typeface="Calibri" pitchFamily="34" charset="-120"/>
              </a:rPr>
              <a:t>Val Accuracy</a:t>
            </a:r>
            <a:endParaRPr lang="en-US" sz="1100" b="1" spc="50" dirty="0">
              <a:ln w="0"/>
              <a:solidFill>
                <a:schemeClr val="bg2"/>
              </a:solidFill>
              <a:effectLst>
                <a:innerShdw blurRad="63500" dist="50800" dir="13500000">
                  <a:srgbClr val="000000">
                    <a:alpha val="50000"/>
                  </a:srgbClr>
                </a:innerShdw>
              </a:effectLst>
            </a:endParaRPr>
          </a:p>
        </p:txBody>
      </p:sp>
      <p:sp>
        <p:nvSpPr>
          <p:cNvPr id="11" name="Shape 9"/>
          <p:cNvSpPr/>
          <p:nvPr/>
        </p:nvSpPr>
        <p:spPr>
          <a:xfrm>
            <a:off x="4663440" y="1005840"/>
            <a:ext cx="1920240" cy="1280160"/>
          </a:xfrm>
          <a:prstGeom prst="rect">
            <a:avLst/>
          </a:prstGeom>
          <a:ln/>
        </p:spPr>
        <p:style>
          <a:lnRef idx="2">
            <a:schemeClr val="accent1"/>
          </a:lnRef>
          <a:fillRef idx="1">
            <a:schemeClr val="lt1"/>
          </a:fillRef>
          <a:effectRef idx="0">
            <a:schemeClr val="accent1"/>
          </a:effectRef>
          <a:fontRef idx="minor">
            <a:schemeClr val="dk1"/>
          </a:fontRef>
        </p:style>
      </p:sp>
      <p:sp>
        <p:nvSpPr>
          <p:cNvPr id="12" name="Text 10"/>
          <p:cNvSpPr/>
          <p:nvPr/>
        </p:nvSpPr>
        <p:spPr>
          <a:xfrm>
            <a:off x="4663440" y="1097280"/>
            <a:ext cx="1920240" cy="685800"/>
          </a:xfrm>
          <a:prstGeom prst="rect">
            <a:avLst/>
          </a:prstGeom>
          <a:noFill/>
          <a:ln/>
        </p:spPr>
        <p:txBody>
          <a:bodyPr wrap="square" rtlCol="0" anchor="ctr"/>
          <a:lstStyle/>
          <a:p>
            <a:pPr marL="0" indent="0" algn="ctr">
              <a:buNone/>
            </a:pPr>
            <a:r>
              <a:rPr lang="en-US" sz="3400" dirty="0">
                <a:ln w="0"/>
                <a:solidFill>
                  <a:schemeClr val="accent1"/>
                </a:solidFill>
                <a:effectLst>
                  <a:outerShdw blurRad="38100" dist="25400" dir="5400000" algn="ctr" rotWithShape="0">
                    <a:srgbClr val="6E747A">
                      <a:alpha val="43000"/>
                    </a:srgbClr>
                  </a:outerShdw>
                </a:effectLst>
                <a:latin typeface="Georgia" pitchFamily="34" charset="0"/>
                <a:ea typeface="Georgia" pitchFamily="34" charset="-122"/>
                <a:cs typeface="Georgia" pitchFamily="34" charset="-120"/>
              </a:rPr>
              <a:t>&lt;0.2</a:t>
            </a:r>
            <a:endParaRPr lang="en-US" sz="3400" dirty="0">
              <a:ln w="0"/>
              <a:solidFill>
                <a:schemeClr val="accent1"/>
              </a:solidFill>
              <a:effectLst>
                <a:outerShdw blurRad="38100" dist="25400" dir="5400000" algn="ctr" rotWithShape="0">
                  <a:srgbClr val="6E747A">
                    <a:alpha val="43000"/>
                  </a:srgbClr>
                </a:outerShdw>
              </a:effectLst>
            </a:endParaRPr>
          </a:p>
        </p:txBody>
      </p:sp>
      <p:sp>
        <p:nvSpPr>
          <p:cNvPr id="13" name="Text 11"/>
          <p:cNvSpPr/>
          <p:nvPr/>
        </p:nvSpPr>
        <p:spPr>
          <a:xfrm>
            <a:off x="4663440" y="1737360"/>
            <a:ext cx="1920240" cy="411480"/>
          </a:xfrm>
          <a:prstGeom prst="rect">
            <a:avLst/>
          </a:prstGeom>
          <a:noFill/>
          <a:ln/>
        </p:spPr>
        <p:txBody>
          <a:bodyPr wrap="square" rtlCol="0" anchor="ctr"/>
          <a:lstStyle/>
          <a:p>
            <a:pPr marL="0" indent="0" algn="ctr">
              <a:buNone/>
            </a:pPr>
            <a:r>
              <a:rPr lang="en-US" sz="11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alibri" pitchFamily="34" charset="0"/>
                <a:ea typeface="Calibri" pitchFamily="34" charset="-122"/>
                <a:cs typeface="Calibri" pitchFamily="34" charset="-120"/>
              </a:rPr>
              <a:t>Test Loss</a:t>
            </a:r>
            <a:endParaRPr lang="en-US" sz="11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4" name="Shape 12"/>
          <p:cNvSpPr/>
          <p:nvPr/>
        </p:nvSpPr>
        <p:spPr>
          <a:xfrm>
            <a:off x="6890327" y="1005147"/>
            <a:ext cx="1920240" cy="1280160"/>
          </a:xfrm>
          <a:prstGeom prst="rect">
            <a:avLst/>
          </a:prstGeom>
          <a:ln/>
        </p:spPr>
        <p:style>
          <a:lnRef idx="2">
            <a:schemeClr val="accent3"/>
          </a:lnRef>
          <a:fillRef idx="1">
            <a:schemeClr val="lt1"/>
          </a:fillRef>
          <a:effectRef idx="0">
            <a:schemeClr val="accent3"/>
          </a:effectRef>
          <a:fontRef idx="minor">
            <a:schemeClr val="dk1"/>
          </a:fontRef>
        </p:style>
      </p:sp>
      <p:sp>
        <p:nvSpPr>
          <p:cNvPr id="15" name="Text 13"/>
          <p:cNvSpPr/>
          <p:nvPr/>
        </p:nvSpPr>
        <p:spPr>
          <a:xfrm>
            <a:off x="6858000" y="1097280"/>
            <a:ext cx="1920240" cy="685800"/>
          </a:xfrm>
          <a:prstGeom prst="rect">
            <a:avLst/>
          </a:prstGeom>
          <a:noFill/>
          <a:ln/>
        </p:spPr>
        <p:txBody>
          <a:bodyPr wrap="square" rtlCol="0" anchor="ctr"/>
          <a:lstStyle/>
          <a:p>
            <a:pPr marL="0" indent="0" algn="ctr">
              <a:buNone/>
            </a:pPr>
            <a:r>
              <a:rPr lang="en-US" sz="3400" dirty="0">
                <a:ln w="0"/>
                <a:solidFill>
                  <a:schemeClr val="accent1"/>
                </a:solidFill>
                <a:effectLst>
                  <a:outerShdw blurRad="38100" dist="25400" dir="5400000" algn="ctr" rotWithShape="0">
                    <a:srgbClr val="6E747A">
                      <a:alpha val="43000"/>
                    </a:srgbClr>
                  </a:outerShdw>
                </a:effectLst>
                <a:latin typeface="Georgia" pitchFamily="34" charset="0"/>
                <a:ea typeface="Georgia" pitchFamily="34" charset="-122"/>
                <a:cs typeface="Georgia" pitchFamily="34" charset="-120"/>
              </a:rPr>
              <a:t>6</a:t>
            </a:r>
            <a:endParaRPr lang="en-US" sz="3400" dirty="0">
              <a:ln w="0"/>
              <a:solidFill>
                <a:schemeClr val="accent1"/>
              </a:solidFill>
              <a:effectLst>
                <a:outerShdw blurRad="38100" dist="25400" dir="5400000" algn="ctr" rotWithShape="0">
                  <a:srgbClr val="6E747A">
                    <a:alpha val="43000"/>
                  </a:srgbClr>
                </a:outerShdw>
              </a:effectLst>
            </a:endParaRPr>
          </a:p>
        </p:txBody>
      </p:sp>
      <p:sp>
        <p:nvSpPr>
          <p:cNvPr id="16" name="Text 14"/>
          <p:cNvSpPr/>
          <p:nvPr/>
        </p:nvSpPr>
        <p:spPr>
          <a:xfrm>
            <a:off x="6858000" y="1737360"/>
            <a:ext cx="1920240" cy="411480"/>
          </a:xfrm>
          <a:prstGeom prst="rect">
            <a:avLst/>
          </a:prstGeom>
          <a:noFill/>
          <a:ln/>
        </p:spPr>
        <p:txBody>
          <a:bodyPr wrap="square" rtlCol="0" anchor="ctr"/>
          <a:lstStyle/>
          <a:p>
            <a:pPr marL="0" indent="0" algn="ctr">
              <a:buNone/>
            </a:pPr>
            <a:r>
              <a:rPr lang="en-US" sz="1100" b="1" spc="50" dirty="0">
                <a:ln w="0"/>
                <a:solidFill>
                  <a:schemeClr val="bg2"/>
                </a:solidFill>
                <a:effectLst>
                  <a:innerShdw blurRad="63500" dist="50800" dir="13500000">
                    <a:srgbClr val="000000">
                      <a:alpha val="50000"/>
                    </a:srgbClr>
                  </a:innerShdw>
                </a:effectLst>
                <a:latin typeface="Calibri" pitchFamily="34" charset="0"/>
                <a:ea typeface="Calibri" pitchFamily="34" charset="-122"/>
                <a:cs typeface="Calibri" pitchFamily="34" charset="-120"/>
              </a:rPr>
              <a:t>Classes Detected</a:t>
            </a:r>
            <a:endParaRPr lang="en-US" sz="1100" b="1" spc="50" dirty="0">
              <a:ln w="0"/>
              <a:solidFill>
                <a:schemeClr val="bg2"/>
              </a:solidFill>
              <a:effectLst>
                <a:innerShdw blurRad="63500" dist="50800" dir="13500000">
                  <a:srgbClr val="000000">
                    <a:alpha val="50000"/>
                  </a:srgbClr>
                </a:innerShdw>
              </a:effectLst>
            </a:endParaRPr>
          </a:p>
        </p:txBody>
      </p:sp>
      <p:sp>
        <p:nvSpPr>
          <p:cNvPr id="17" name="Text 15"/>
          <p:cNvSpPr/>
          <p:nvPr/>
        </p:nvSpPr>
        <p:spPr>
          <a:xfrm>
            <a:off x="365760" y="2468880"/>
            <a:ext cx="8412480" cy="365760"/>
          </a:xfrm>
          <a:prstGeom prst="rect">
            <a:avLst/>
          </a:prstGeom>
          <a:noFill/>
          <a:ln/>
        </p:spPr>
        <p:txBody>
          <a:bodyPr wrap="square" rtlCol="0" anchor="ctr"/>
          <a:lstStyle/>
          <a:p>
            <a:pPr marL="0" indent="0">
              <a:buNone/>
            </a:pPr>
            <a:r>
              <a:rPr lang="en-US" sz="1500" b="1" dirty="0">
                <a:solidFill>
                  <a:srgbClr val="1B4332"/>
                </a:solidFill>
                <a:latin typeface="Georgia" pitchFamily="34" charset="0"/>
                <a:ea typeface="Georgia" pitchFamily="34" charset="-122"/>
                <a:cs typeface="Georgia" pitchFamily="34" charset="-120"/>
              </a:rPr>
              <a:t>Model Comparison</a:t>
            </a:r>
            <a:endParaRPr lang="en-US" sz="1500" dirty="0"/>
          </a:p>
        </p:txBody>
      </p:sp>
      <p:graphicFrame>
        <p:nvGraphicFramePr>
          <p:cNvPr id="18" name="Chart 0"/>
          <p:cNvGraphicFramePr/>
          <p:nvPr/>
        </p:nvGraphicFramePr>
        <p:xfrm>
          <a:off x="274320" y="2834640"/>
          <a:ext cx="8595360" cy="20116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D6A4F"/>
          </a:solidFill>
          <a:ln/>
        </p:spPr>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Web Application — FreshSense</a:t>
            </a:r>
            <a:endParaRPr lang="en-US" sz="2600" dirty="0"/>
          </a:p>
        </p:txBody>
      </p:sp>
      <p:sp>
        <p:nvSpPr>
          <p:cNvPr id="4" name="Text 2"/>
          <p:cNvSpPr/>
          <p:nvPr/>
        </p:nvSpPr>
        <p:spPr>
          <a:xfrm>
            <a:off x="8046720" y="91440"/>
            <a:ext cx="731520" cy="731520"/>
          </a:xfrm>
          <a:prstGeom prst="rect">
            <a:avLst/>
          </a:prstGeom>
          <a:noFill/>
          <a:ln/>
        </p:spPr>
        <p:txBody>
          <a:bodyPr wrap="square" rtlCol="0" anchor="ctr"/>
          <a:lstStyle/>
          <a:p>
            <a:pPr marL="0" indent="0" algn="r">
              <a:buNone/>
            </a:pPr>
            <a:endParaRPr lang="en-US" sz="2800" dirty="0"/>
          </a:p>
        </p:txBody>
      </p:sp>
      <p:sp>
        <p:nvSpPr>
          <p:cNvPr id="5" name="Text 3"/>
          <p:cNvSpPr/>
          <p:nvPr/>
        </p:nvSpPr>
        <p:spPr>
          <a:xfrm>
            <a:off x="365760" y="1051560"/>
            <a:ext cx="4389120" cy="411480"/>
          </a:xfrm>
          <a:prstGeom prst="rect">
            <a:avLst/>
          </a:prstGeom>
          <a:noFill/>
          <a:ln/>
        </p:spPr>
        <p:txBody>
          <a:bodyPr wrap="square" rtlCol="0" anchor="ctr"/>
          <a:lstStyle/>
          <a:p>
            <a:pPr marL="0" indent="0">
              <a:buNone/>
            </a:pPr>
            <a:r>
              <a:rPr lang="en-US" sz="1800" b="1" dirty="0">
                <a:solidFill>
                  <a:srgbClr val="1B4332"/>
                </a:solidFill>
                <a:latin typeface="Georgia" pitchFamily="34" charset="0"/>
                <a:ea typeface="Georgia" pitchFamily="34" charset="-122"/>
                <a:cs typeface="Georgia" pitchFamily="34" charset="-120"/>
              </a:rPr>
              <a:t>FreshSense Web App</a:t>
            </a:r>
            <a:endParaRPr lang="en-US" sz="1800" dirty="0"/>
          </a:p>
        </p:txBody>
      </p:sp>
      <p:sp>
        <p:nvSpPr>
          <p:cNvPr id="6" name="Shape 4"/>
          <p:cNvSpPr/>
          <p:nvPr/>
        </p:nvSpPr>
        <p:spPr>
          <a:xfrm>
            <a:off x="274320" y="1554480"/>
            <a:ext cx="4206240" cy="457200"/>
          </a:xfrm>
          <a:prstGeom prst="rect">
            <a:avLst/>
          </a:prstGeom>
          <a:solidFill>
            <a:srgbClr val="F4F6F4"/>
          </a:solidFill>
          <a:ln/>
        </p:spPr>
      </p:sp>
      <p:sp>
        <p:nvSpPr>
          <p:cNvPr id="7" name="Text 5"/>
          <p:cNvSpPr/>
          <p:nvPr/>
        </p:nvSpPr>
        <p:spPr>
          <a:xfrm>
            <a:off x="411480" y="1572768"/>
            <a:ext cx="3931920" cy="420624"/>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  Works in any browser — no installation</a:t>
            </a:r>
            <a:endParaRPr lang="en-US" sz="1200" dirty="0"/>
          </a:p>
        </p:txBody>
      </p:sp>
      <p:sp>
        <p:nvSpPr>
          <p:cNvPr id="8" name="Shape 6"/>
          <p:cNvSpPr/>
          <p:nvPr/>
        </p:nvSpPr>
        <p:spPr>
          <a:xfrm>
            <a:off x="274320" y="2084832"/>
            <a:ext cx="4206240" cy="457200"/>
          </a:xfrm>
          <a:prstGeom prst="rect">
            <a:avLst/>
          </a:prstGeom>
          <a:solidFill>
            <a:srgbClr val="FFFFFF"/>
          </a:solidFill>
          <a:ln/>
        </p:spPr>
      </p:sp>
      <p:sp>
        <p:nvSpPr>
          <p:cNvPr id="9" name="Text 7"/>
          <p:cNvSpPr/>
          <p:nvPr/>
        </p:nvSpPr>
        <p:spPr>
          <a:xfrm>
            <a:off x="411480" y="2103120"/>
            <a:ext cx="3931920" cy="420624"/>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  Detects ANY fruit — not just trained classes</a:t>
            </a:r>
            <a:endParaRPr lang="en-US" sz="1200" dirty="0"/>
          </a:p>
        </p:txBody>
      </p:sp>
      <p:sp>
        <p:nvSpPr>
          <p:cNvPr id="10" name="Shape 8"/>
          <p:cNvSpPr/>
          <p:nvPr/>
        </p:nvSpPr>
        <p:spPr>
          <a:xfrm>
            <a:off x="274320" y="2615184"/>
            <a:ext cx="4206240" cy="457200"/>
          </a:xfrm>
          <a:prstGeom prst="rect">
            <a:avLst/>
          </a:prstGeom>
          <a:solidFill>
            <a:srgbClr val="F4F6F4"/>
          </a:solidFill>
          <a:ln/>
        </p:spPr>
        <p:txBody>
          <a:bodyPr/>
          <a:lstStyle/>
          <a:p>
            <a:endParaRPr lang="en-IN" dirty="0"/>
          </a:p>
        </p:txBody>
      </p:sp>
      <p:sp>
        <p:nvSpPr>
          <p:cNvPr id="11" name="Text 9"/>
          <p:cNvSpPr/>
          <p:nvPr/>
        </p:nvSpPr>
        <p:spPr>
          <a:xfrm>
            <a:off x="411480" y="2633472"/>
            <a:ext cx="3931920" cy="420624"/>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  Powered by Google Gemini Vision AI</a:t>
            </a:r>
            <a:endParaRPr lang="en-US" sz="1200" dirty="0"/>
          </a:p>
        </p:txBody>
      </p:sp>
      <p:sp>
        <p:nvSpPr>
          <p:cNvPr id="12" name="Shape 10"/>
          <p:cNvSpPr/>
          <p:nvPr/>
        </p:nvSpPr>
        <p:spPr>
          <a:xfrm>
            <a:off x="274320" y="3145536"/>
            <a:ext cx="4206240" cy="457200"/>
          </a:xfrm>
          <a:prstGeom prst="rect">
            <a:avLst/>
          </a:prstGeom>
          <a:solidFill>
            <a:srgbClr val="FFFFFF"/>
          </a:solidFill>
          <a:ln/>
        </p:spPr>
      </p:sp>
      <p:sp>
        <p:nvSpPr>
          <p:cNvPr id="13" name="Text 11"/>
          <p:cNvSpPr/>
          <p:nvPr/>
        </p:nvSpPr>
        <p:spPr>
          <a:xfrm>
            <a:off x="411480" y="3163824"/>
            <a:ext cx="3931920" cy="420624"/>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  Shows confidence score, visual signs</a:t>
            </a:r>
            <a:endParaRPr lang="en-US" sz="1200" dirty="0"/>
          </a:p>
        </p:txBody>
      </p:sp>
      <p:sp>
        <p:nvSpPr>
          <p:cNvPr id="14" name="Shape 12"/>
          <p:cNvSpPr/>
          <p:nvPr/>
        </p:nvSpPr>
        <p:spPr>
          <a:xfrm>
            <a:off x="274320" y="3675888"/>
            <a:ext cx="4206240" cy="457200"/>
          </a:xfrm>
          <a:prstGeom prst="rect">
            <a:avLst/>
          </a:prstGeom>
          <a:solidFill>
            <a:srgbClr val="F4F6F4"/>
          </a:solidFill>
          <a:ln/>
        </p:spPr>
      </p:sp>
      <p:sp>
        <p:nvSpPr>
          <p:cNvPr id="15" name="Text 13"/>
          <p:cNvSpPr/>
          <p:nvPr/>
        </p:nvSpPr>
        <p:spPr>
          <a:xfrm>
            <a:off x="411480" y="3694176"/>
            <a:ext cx="3931920" cy="420624"/>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  Gives recommendations &amp; fruit facts</a:t>
            </a:r>
            <a:endParaRPr lang="en-US" sz="1200" dirty="0"/>
          </a:p>
        </p:txBody>
      </p:sp>
      <p:sp>
        <p:nvSpPr>
          <p:cNvPr id="16" name="Shape 14"/>
          <p:cNvSpPr/>
          <p:nvPr/>
        </p:nvSpPr>
        <p:spPr>
          <a:xfrm>
            <a:off x="274320" y="4206240"/>
            <a:ext cx="4206240" cy="457200"/>
          </a:xfrm>
          <a:prstGeom prst="rect">
            <a:avLst/>
          </a:prstGeom>
          <a:solidFill>
            <a:srgbClr val="FFFFFF"/>
          </a:solidFill>
          <a:ln/>
        </p:spPr>
      </p:sp>
      <p:sp>
        <p:nvSpPr>
          <p:cNvPr id="17" name="Text 15"/>
          <p:cNvSpPr/>
          <p:nvPr/>
        </p:nvSpPr>
        <p:spPr>
          <a:xfrm>
            <a:off x="411480" y="4224528"/>
            <a:ext cx="3931920" cy="420624"/>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  Mobile-friendly responsive design</a:t>
            </a:r>
            <a:endParaRPr lang="en-US" sz="1200" dirty="0"/>
          </a:p>
        </p:txBody>
      </p:sp>
      <p:sp>
        <p:nvSpPr>
          <p:cNvPr id="18" name="Text 16"/>
          <p:cNvSpPr/>
          <p:nvPr/>
        </p:nvSpPr>
        <p:spPr>
          <a:xfrm>
            <a:off x="4754880" y="1051560"/>
            <a:ext cx="4114800" cy="365760"/>
          </a:xfrm>
          <a:prstGeom prst="rect">
            <a:avLst/>
          </a:prstGeom>
          <a:noFill/>
          <a:ln/>
        </p:spPr>
        <p:txBody>
          <a:bodyPr wrap="square" rtlCol="0" anchor="ctr"/>
          <a:lstStyle/>
          <a:p>
            <a:pPr marL="0" indent="0" algn="ctr">
              <a:buNone/>
            </a:pPr>
            <a:r>
              <a:rPr lang="en-US" sz="1500" b="1" dirty="0">
                <a:solidFill>
                  <a:srgbClr val="1B4332"/>
                </a:solidFill>
                <a:latin typeface="Georgia" pitchFamily="34" charset="0"/>
                <a:ea typeface="Georgia" pitchFamily="34" charset="-122"/>
                <a:cs typeface="Georgia" pitchFamily="34" charset="-120"/>
              </a:rPr>
              <a:t>Colab Model vs Web App</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3629495184"/>
              </p:ext>
            </p:extLst>
          </p:nvPr>
        </p:nvGraphicFramePr>
        <p:xfrm>
          <a:off x="4663440" y="1463040"/>
          <a:ext cx="4206240" cy="2743200"/>
        </p:xfrm>
        <a:graphic>
          <a:graphicData uri="http://schemas.openxmlformats.org/drawingml/2006/table">
            <a:tbl>
              <a:tblPr/>
              <a:tblGrid>
                <a:gridCol w="13716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4572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Colab Model</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Web App</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D6A4F"/>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Fruit Types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 types only</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Any fruit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1"/>
                  </a:ext>
                </a:extLst>
              </a:tr>
              <a:tr h="45720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Interface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Code-based</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User friendly</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45720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Deployment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Colab only</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Browser based</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3"/>
                  </a:ext>
                </a:extLst>
              </a:tr>
              <a:tr h="45720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Predictions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ML model</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Gemini AI(currently offline)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45720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Developers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Everyone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332"/>
          </a:solidFill>
          <a:ln/>
        </p:spPr>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Conclusion &amp; Future Work</a:t>
            </a:r>
            <a:endParaRPr lang="en-US" sz="2800" dirty="0"/>
          </a:p>
        </p:txBody>
      </p:sp>
      <p:sp>
        <p:nvSpPr>
          <p:cNvPr id="4" name="Text 2"/>
          <p:cNvSpPr/>
          <p:nvPr/>
        </p:nvSpPr>
        <p:spPr>
          <a:xfrm>
            <a:off x="8046720" y="91440"/>
            <a:ext cx="731520" cy="731520"/>
          </a:xfrm>
          <a:prstGeom prst="rect">
            <a:avLst/>
          </a:prstGeom>
          <a:noFill/>
          <a:ln/>
        </p:spPr>
        <p:txBody>
          <a:bodyPr wrap="square" rtlCol="0" anchor="ctr"/>
          <a:lstStyle/>
          <a:p>
            <a:pPr marL="0" indent="0" algn="r">
              <a:buNone/>
            </a:pPr>
            <a:r>
              <a:rPr lang="en-US" sz="2800" b="1" dirty="0">
                <a:solidFill>
                  <a:srgbClr val="FFFFFF"/>
                </a:solidFill>
                <a:latin typeface="Georgia" pitchFamily="34" charset="0"/>
                <a:ea typeface="Georgia" pitchFamily="34" charset="-122"/>
                <a:cs typeface="Georgia" pitchFamily="34" charset="-120"/>
              </a:rPr>
              <a:t>08</a:t>
            </a:r>
            <a:endParaRPr lang="en-US" sz="2800" dirty="0"/>
          </a:p>
        </p:txBody>
      </p:sp>
      <p:sp>
        <p:nvSpPr>
          <p:cNvPr id="5" name="Shape 3"/>
          <p:cNvSpPr/>
          <p:nvPr/>
        </p:nvSpPr>
        <p:spPr>
          <a:xfrm>
            <a:off x="274320" y="1005840"/>
            <a:ext cx="8595360" cy="1005840"/>
          </a:xfrm>
          <a:prstGeom prst="rect">
            <a:avLst/>
          </a:prstGeom>
          <a:solidFill>
            <a:srgbClr val="D8F3DC"/>
          </a:solidFill>
          <a:ln w="12700">
            <a:solidFill>
              <a:srgbClr val="2D6A4F"/>
            </a:solidFill>
            <a:prstDash val="solid"/>
          </a:ln>
        </p:spPr>
      </p:sp>
      <p:sp>
        <p:nvSpPr>
          <p:cNvPr id="6" name="Text 4"/>
          <p:cNvSpPr/>
          <p:nvPr/>
        </p:nvSpPr>
        <p:spPr>
          <a:xfrm>
            <a:off x="457200" y="1078992"/>
            <a:ext cx="8229600" cy="868680"/>
          </a:xfrm>
          <a:prstGeom prst="rect">
            <a:avLst/>
          </a:prstGeom>
          <a:noFill/>
          <a:ln/>
        </p:spPr>
        <p:txBody>
          <a:bodyPr wrap="square" rtlCol="0" anchor="ctr"/>
          <a:lstStyle/>
          <a:p>
            <a:pPr marL="0" indent="0">
              <a:buNone/>
            </a:pPr>
            <a:r>
              <a:rPr lang="en-US" sz="1300" i="1" dirty="0">
                <a:solidFill>
                  <a:srgbClr val="1B4332"/>
                </a:solidFill>
                <a:latin typeface="Calibri" pitchFamily="34" charset="0"/>
                <a:ea typeface="Calibri" pitchFamily="34" charset="-122"/>
                <a:cs typeface="Calibri" pitchFamily="34" charset="-120"/>
              </a:rPr>
              <a:t>The MobileNetV2 Transfer Learning model achieves 95%+ accuracy for fruit freshness detection — providing a fast, consistent, and scalable alternative to manual inspection, with real-world applications in agriculture and retail.</a:t>
            </a:r>
            <a:endParaRPr lang="en-US" sz="1300" dirty="0"/>
          </a:p>
        </p:txBody>
      </p:sp>
      <p:sp>
        <p:nvSpPr>
          <p:cNvPr id="7" name="Text 5"/>
          <p:cNvSpPr/>
          <p:nvPr/>
        </p:nvSpPr>
        <p:spPr>
          <a:xfrm>
            <a:off x="365760" y="2148840"/>
            <a:ext cx="8412480" cy="365760"/>
          </a:xfrm>
          <a:prstGeom prst="rect">
            <a:avLst/>
          </a:prstGeom>
          <a:noFill/>
          <a:ln/>
        </p:spPr>
        <p:txBody>
          <a:bodyPr wrap="square" rtlCol="0" anchor="ctr"/>
          <a:lstStyle/>
          <a:p>
            <a:pPr marL="0" indent="0">
              <a:buNone/>
            </a:pPr>
            <a:r>
              <a:rPr lang="en-US" sz="1600" b="1" dirty="0">
                <a:solidFill>
                  <a:srgbClr val="1B4332"/>
                </a:solidFill>
                <a:latin typeface="Georgia" pitchFamily="34" charset="0"/>
                <a:ea typeface="Georgia" pitchFamily="34" charset="-122"/>
                <a:cs typeface="Georgia" pitchFamily="34" charset="-120"/>
              </a:rPr>
              <a:t>Future Improvements</a:t>
            </a:r>
            <a:endParaRPr lang="en-US" sz="1600" dirty="0"/>
          </a:p>
        </p:txBody>
      </p:sp>
      <p:sp>
        <p:nvSpPr>
          <p:cNvPr id="8" name="Shape 6"/>
          <p:cNvSpPr/>
          <p:nvPr/>
        </p:nvSpPr>
        <p:spPr>
          <a:xfrm>
            <a:off x="274320" y="2606040"/>
            <a:ext cx="2697480" cy="960120"/>
          </a:xfrm>
          <a:prstGeom prst="rect">
            <a:avLst/>
          </a:prstGeom>
          <a:solidFill>
            <a:srgbClr val="F4F6F4"/>
          </a:solidFill>
          <a:ln w="12700">
            <a:solidFill>
              <a:srgbClr val="DDDDDD"/>
            </a:solidFill>
            <a:prstDash val="solid"/>
          </a:ln>
        </p:spPr>
      </p:sp>
      <p:sp>
        <p:nvSpPr>
          <p:cNvPr id="9" name="Shape 7"/>
          <p:cNvSpPr/>
          <p:nvPr/>
        </p:nvSpPr>
        <p:spPr>
          <a:xfrm>
            <a:off x="274320" y="2606040"/>
            <a:ext cx="2697480" cy="54864"/>
          </a:xfrm>
          <a:prstGeom prst="rect">
            <a:avLst/>
          </a:prstGeom>
          <a:solidFill>
            <a:srgbClr val="2D6A4F"/>
          </a:solidFill>
          <a:ln/>
        </p:spPr>
      </p:sp>
      <p:sp>
        <p:nvSpPr>
          <p:cNvPr id="10" name="Text 8"/>
          <p:cNvSpPr/>
          <p:nvPr/>
        </p:nvSpPr>
        <p:spPr>
          <a:xfrm>
            <a:off x="365760" y="2715768"/>
            <a:ext cx="2514600" cy="347472"/>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Mobile App</a:t>
            </a:r>
            <a:endParaRPr lang="en-US" sz="1300" dirty="0"/>
          </a:p>
        </p:txBody>
      </p:sp>
      <p:sp>
        <p:nvSpPr>
          <p:cNvPr id="11" name="Text 9"/>
          <p:cNvSpPr/>
          <p:nvPr/>
        </p:nvSpPr>
        <p:spPr>
          <a:xfrm>
            <a:off x="365760" y="3081528"/>
            <a:ext cx="2514600" cy="384048"/>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TFLite for Android/iOS</a:t>
            </a:r>
            <a:endParaRPr lang="en-US" sz="1100" dirty="0"/>
          </a:p>
        </p:txBody>
      </p:sp>
      <p:sp>
        <p:nvSpPr>
          <p:cNvPr id="16" name="Shape 14"/>
          <p:cNvSpPr/>
          <p:nvPr/>
        </p:nvSpPr>
        <p:spPr>
          <a:xfrm>
            <a:off x="3223260" y="2606040"/>
            <a:ext cx="2697480" cy="960120"/>
          </a:xfrm>
          <a:prstGeom prst="rect">
            <a:avLst/>
          </a:prstGeom>
          <a:solidFill>
            <a:srgbClr val="F4F6F4"/>
          </a:solidFill>
          <a:ln w="12700">
            <a:solidFill>
              <a:srgbClr val="DDDDDD"/>
            </a:solidFill>
            <a:prstDash val="solid"/>
          </a:ln>
        </p:spPr>
      </p:sp>
      <p:sp>
        <p:nvSpPr>
          <p:cNvPr id="17" name="Shape 15"/>
          <p:cNvSpPr/>
          <p:nvPr/>
        </p:nvSpPr>
        <p:spPr>
          <a:xfrm>
            <a:off x="3223260" y="2606040"/>
            <a:ext cx="2697480" cy="54864"/>
          </a:xfrm>
          <a:prstGeom prst="rect">
            <a:avLst/>
          </a:prstGeom>
          <a:solidFill>
            <a:srgbClr val="2D6A4F"/>
          </a:solidFill>
          <a:ln/>
        </p:spPr>
      </p:sp>
      <p:sp>
        <p:nvSpPr>
          <p:cNvPr id="18" name="Text 16"/>
          <p:cNvSpPr/>
          <p:nvPr/>
        </p:nvSpPr>
        <p:spPr>
          <a:xfrm>
            <a:off x="3314700" y="2715768"/>
            <a:ext cx="2514600" cy="347472"/>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More Fruits</a:t>
            </a:r>
            <a:endParaRPr lang="en-US" sz="1300" dirty="0"/>
          </a:p>
        </p:txBody>
      </p:sp>
      <p:sp>
        <p:nvSpPr>
          <p:cNvPr id="19" name="Text 17"/>
          <p:cNvSpPr/>
          <p:nvPr/>
        </p:nvSpPr>
        <p:spPr>
          <a:xfrm>
            <a:off x="3314700" y="3081528"/>
            <a:ext cx="2514600" cy="384048"/>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Expand to mango, grapes, strawberry</a:t>
            </a:r>
            <a:endParaRPr lang="en-US" sz="1100" dirty="0"/>
          </a:p>
        </p:txBody>
      </p:sp>
      <p:sp>
        <p:nvSpPr>
          <p:cNvPr id="20" name="Shape 18"/>
          <p:cNvSpPr/>
          <p:nvPr/>
        </p:nvSpPr>
        <p:spPr>
          <a:xfrm>
            <a:off x="274320" y="3749040"/>
            <a:ext cx="2697480" cy="960120"/>
          </a:xfrm>
          <a:prstGeom prst="rect">
            <a:avLst/>
          </a:prstGeom>
          <a:solidFill>
            <a:srgbClr val="F4F6F4"/>
          </a:solidFill>
          <a:ln w="12700">
            <a:solidFill>
              <a:srgbClr val="DDDDDD"/>
            </a:solidFill>
            <a:prstDash val="solid"/>
          </a:ln>
        </p:spPr>
      </p:sp>
      <p:sp>
        <p:nvSpPr>
          <p:cNvPr id="21" name="Shape 19"/>
          <p:cNvSpPr/>
          <p:nvPr/>
        </p:nvSpPr>
        <p:spPr>
          <a:xfrm>
            <a:off x="274320" y="3749040"/>
            <a:ext cx="2697480" cy="54864"/>
          </a:xfrm>
          <a:prstGeom prst="rect">
            <a:avLst/>
          </a:prstGeom>
          <a:solidFill>
            <a:srgbClr val="2D6A4F"/>
          </a:solidFill>
          <a:ln/>
        </p:spPr>
      </p:sp>
      <p:sp>
        <p:nvSpPr>
          <p:cNvPr id="22" name="Text 20"/>
          <p:cNvSpPr/>
          <p:nvPr/>
        </p:nvSpPr>
        <p:spPr>
          <a:xfrm>
            <a:off x="365760" y="3858768"/>
            <a:ext cx="2514600" cy="347472"/>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YOLO</a:t>
            </a:r>
            <a:endParaRPr lang="en-US" sz="1300" dirty="0"/>
          </a:p>
        </p:txBody>
      </p:sp>
      <p:sp>
        <p:nvSpPr>
          <p:cNvPr id="23" name="Text 21"/>
          <p:cNvSpPr/>
          <p:nvPr/>
        </p:nvSpPr>
        <p:spPr>
          <a:xfrm>
            <a:off x="365760" y="4224528"/>
            <a:ext cx="2514600" cy="384048"/>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Multi-fruit detection in one image</a:t>
            </a:r>
            <a:endParaRPr lang="en-US" sz="1100" dirty="0"/>
          </a:p>
        </p:txBody>
      </p:sp>
      <p:sp>
        <p:nvSpPr>
          <p:cNvPr id="28" name="Shape 26"/>
          <p:cNvSpPr/>
          <p:nvPr/>
        </p:nvSpPr>
        <p:spPr>
          <a:xfrm>
            <a:off x="3246120" y="3766589"/>
            <a:ext cx="2697480" cy="960120"/>
          </a:xfrm>
          <a:prstGeom prst="rect">
            <a:avLst/>
          </a:prstGeom>
          <a:solidFill>
            <a:srgbClr val="F4F6F4"/>
          </a:solidFill>
          <a:ln w="12700">
            <a:solidFill>
              <a:srgbClr val="DDDDDD"/>
            </a:solidFill>
            <a:prstDash val="solid"/>
          </a:ln>
        </p:spPr>
      </p:sp>
      <p:sp>
        <p:nvSpPr>
          <p:cNvPr id="29" name="Shape 27"/>
          <p:cNvSpPr/>
          <p:nvPr/>
        </p:nvSpPr>
        <p:spPr>
          <a:xfrm>
            <a:off x="3246120" y="3766589"/>
            <a:ext cx="2697480" cy="54864"/>
          </a:xfrm>
          <a:prstGeom prst="rect">
            <a:avLst/>
          </a:prstGeom>
          <a:solidFill>
            <a:srgbClr val="2D6A4F"/>
          </a:solidFill>
          <a:ln/>
        </p:spPr>
      </p:sp>
      <p:sp>
        <p:nvSpPr>
          <p:cNvPr id="30" name="Text 28"/>
          <p:cNvSpPr/>
          <p:nvPr/>
        </p:nvSpPr>
        <p:spPr>
          <a:xfrm>
            <a:off x="3337560" y="3876317"/>
            <a:ext cx="2514600" cy="347472"/>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REST API</a:t>
            </a:r>
            <a:endParaRPr lang="en-US" sz="1300" dirty="0"/>
          </a:p>
        </p:txBody>
      </p:sp>
      <p:sp>
        <p:nvSpPr>
          <p:cNvPr id="31" name="Text 29"/>
          <p:cNvSpPr/>
          <p:nvPr/>
        </p:nvSpPr>
        <p:spPr>
          <a:xfrm>
            <a:off x="3337560" y="4242077"/>
            <a:ext cx="2514600" cy="384048"/>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Integration with retail systems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D6A4F"/>
          </a:solidFill>
          <a:ln/>
        </p:spPr>
      </p:sp>
      <p:sp>
        <p:nvSpPr>
          <p:cNvPr id="3" name="Text 1"/>
          <p:cNvSpPr/>
          <p:nvPr/>
        </p:nvSpPr>
        <p:spPr>
          <a:xfrm>
            <a:off x="365760" y="1097280"/>
            <a:ext cx="8412480" cy="1280160"/>
          </a:xfrm>
          <a:prstGeom prst="rect">
            <a:avLst/>
          </a:prstGeom>
          <a:noFill/>
          <a:ln/>
        </p:spPr>
        <p:txBody>
          <a:bodyPr wrap="square" rtlCol="0" anchor="ctr"/>
          <a:lstStyle/>
          <a:p>
            <a:pPr marL="0" indent="0" algn="ctr">
              <a:buNone/>
            </a:pPr>
            <a:r>
              <a:rPr lang="en-US" sz="6000" b="1" dirty="0">
                <a:solidFill>
                  <a:srgbClr val="FFFFFF"/>
                </a:solidFill>
                <a:latin typeface="Georgia" pitchFamily="34" charset="0"/>
                <a:ea typeface="Georgia" pitchFamily="34" charset="-122"/>
                <a:cs typeface="Georgia" pitchFamily="34" charset="-120"/>
              </a:rPr>
              <a:t>Thank You</a:t>
            </a:r>
            <a:endParaRPr lang="en-US" sz="6000" dirty="0"/>
          </a:p>
        </p:txBody>
      </p:sp>
      <p:sp>
        <p:nvSpPr>
          <p:cNvPr id="5" name="Shape 3"/>
          <p:cNvSpPr/>
          <p:nvPr/>
        </p:nvSpPr>
        <p:spPr>
          <a:xfrm>
            <a:off x="2743200" y="3017520"/>
            <a:ext cx="3657600" cy="36576"/>
          </a:xfrm>
          <a:prstGeom prst="rect">
            <a:avLst/>
          </a:prstGeom>
          <a:solidFill>
            <a:srgbClr val="2D6A4F"/>
          </a:solidFill>
          <a:ln/>
        </p:spPr>
      </p:sp>
      <p:sp>
        <p:nvSpPr>
          <p:cNvPr id="7" name="Text 5"/>
          <p:cNvSpPr/>
          <p:nvPr/>
        </p:nvSpPr>
        <p:spPr>
          <a:xfrm>
            <a:off x="365760" y="3134452"/>
            <a:ext cx="8412480" cy="365760"/>
          </a:xfrm>
          <a:prstGeom prst="rect">
            <a:avLst/>
          </a:prstGeom>
          <a:noFill/>
          <a:ln/>
        </p:spPr>
        <p:txBody>
          <a:bodyPr wrap="square" rtlCol="0" anchor="ctr"/>
          <a:lstStyle/>
          <a:p>
            <a:pPr marL="0" indent="0" algn="ctr">
              <a:buNone/>
            </a:pPr>
            <a:r>
              <a:rPr lang="en-US" sz="1200" i="1" dirty="0">
                <a:solidFill>
                  <a:srgbClr val="445544"/>
                </a:solidFill>
                <a:latin typeface="Calibri" pitchFamily="34" charset="0"/>
                <a:ea typeface="Calibri" pitchFamily="34" charset="-122"/>
                <a:cs typeface="Calibri" pitchFamily="34" charset="-120"/>
              </a:rPr>
              <a:t>Fresh Fruit Detection Using Transfer Learning (MobileNetV2)</a:t>
            </a:r>
            <a:endParaRPr lang="en-US" sz="12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TM03457485[[fn=Mesh]]</Template>
  <TotalTime>327</TotalTime>
  <Words>1415</Words>
  <Application>Microsoft Office PowerPoint</Application>
  <PresentationFormat>On-screen Show (16:9)</PresentationFormat>
  <Paragraphs>176</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Century Gothic</vt:lpstr>
      <vt:lpstr>Georgia</vt:lpstr>
      <vt:lpstr>Mesh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 Fruit Detection Using Transfer Learning</dc:title>
  <dc:subject>PptxGenJS Presentation</dc:subject>
  <dc:creator>Anushka Marcelo</dc:creator>
  <cp:lastModifiedBy>marceloanushka@gmail.com</cp:lastModifiedBy>
  <cp:revision>5</cp:revision>
  <dcterms:created xsi:type="dcterms:W3CDTF">2026-04-29T14:34:00Z</dcterms:created>
  <dcterms:modified xsi:type="dcterms:W3CDTF">2026-04-29T22:15:57Z</dcterms:modified>
</cp:coreProperties>
</file>