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5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599" autoAdjust="0"/>
  </p:normalViewPr>
  <p:slideViewPr>
    <p:cSldViewPr snapToGrid="0" snapToObjects="1">
      <p:cViewPr varScale="1">
        <p:scale>
          <a:sx n="138" d="100"/>
          <a:sy n="138" d="100"/>
        </p:scale>
        <p:origin x="30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Images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004-49AF-853D-C538AF8E1039}"/>
              </c:ext>
            </c:extLst>
          </c:dPt>
          <c:dPt>
            <c:idx val="1"/>
            <c:invertIfNegative val="0"/>
            <c:bubble3D val="0"/>
            <c:spPr>
              <a:solidFill>
                <a:srgbClr val="52B7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004-49AF-853D-C538AF8E1039}"/>
              </c:ext>
            </c:extLst>
          </c:dPt>
          <c:dPt>
            <c:idx val="2"/>
            <c:invertIfNegative val="0"/>
            <c:bubble3D val="0"/>
            <c:spPr>
              <a:solidFill>
                <a:srgbClr val="74C69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004-49AF-853D-C538AF8E1039}"/>
              </c:ext>
            </c:extLst>
          </c:dPt>
          <c:dPt>
            <c:idx val="3"/>
            <c:invertIfNegative val="0"/>
            <c:bubble3D val="0"/>
            <c:spPr>
              <a:solidFill>
                <a:srgbClr val="C1121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004-49AF-853D-C538AF8E1039}"/>
              </c:ext>
            </c:extLst>
          </c:dPt>
          <c:dPt>
            <c:idx val="4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004-49AF-853D-C538AF8E1039}"/>
              </c:ext>
            </c:extLst>
          </c:dPt>
          <c:dPt>
            <c:idx val="5"/>
            <c:invertIfNegative val="0"/>
            <c:bubble3D val="0"/>
            <c:spPr>
              <a:solidFill>
                <a:srgbClr val="FF6B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F004-49AF-853D-C538AF8E103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Fresh
Apple</c:v>
                </c:pt>
                <c:pt idx="1">
                  <c:v>Fresh
Banana</c:v>
                </c:pt>
                <c:pt idx="2">
                  <c:v>Fresh
Orange</c:v>
                </c:pt>
                <c:pt idx="3">
                  <c:v>Rotten
Apple</c:v>
                </c:pt>
                <c:pt idx="4">
                  <c:v>Rotten
Banana</c:v>
                </c:pt>
                <c:pt idx="5">
                  <c:v>Rotten
Orange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1693</c:v>
                </c:pt>
                <c:pt idx="1">
                  <c:v>1581</c:v>
                </c:pt>
                <c:pt idx="2">
                  <c:v>1466</c:v>
                </c:pt>
                <c:pt idx="3">
                  <c:v>2342</c:v>
                </c:pt>
                <c:pt idx="4">
                  <c:v>2224</c:v>
                </c:pt>
                <c:pt idx="5">
                  <c:v>1599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F004-49AF-853D-C538AF8E10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%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700-4AB9-AA6C-3A2F8EC3633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3700-4AB9-AA6C-3A2F8EC36338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3700-4AB9-AA6C-3A2F8EC36338}"/>
              </c:ext>
            </c:extLst>
          </c:dPt>
          <c:dPt>
            <c:idx val="3"/>
            <c:invertIfNegative val="0"/>
            <c:bubble3D val="0"/>
            <c:spPr>
              <a:solidFill>
                <a:srgbClr val="2D6A4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700-4AB9-AA6C-3A2F8EC3633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Basic CNN</c:v>
                </c:pt>
                <c:pt idx="1">
                  <c:v>SVM + HOG</c:v>
                </c:pt>
                <c:pt idx="2">
                  <c:v>VGG16</c:v>
                </c:pt>
                <c:pt idx="3">
                  <c:v>MobileNetV2
(Ours)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</c:v>
                </c:pt>
                <c:pt idx="1">
                  <c:v>65</c:v>
                </c:pt>
                <c:pt idx="2">
                  <c:v>93</c:v>
                </c:pt>
                <c:pt idx="3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700-4AB9-AA6C-3A2F8EC363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4820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457201"/>
            <a:ext cx="6507167" cy="2400300"/>
          </a:xfrm>
        </p:spPr>
        <p:txBody>
          <a:bodyPr anchor="b">
            <a:normAutofit/>
          </a:bodyPr>
          <a:lstStyle>
            <a:lvl1pPr algn="ctr">
              <a:defRPr sz="36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0"/>
            <a:ext cx="6507167" cy="1428750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769193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19732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260" y="2481436"/>
            <a:ext cx="6515100" cy="1101600"/>
          </a:xfrm>
        </p:spPr>
        <p:txBody>
          <a:bodyPr anchor="b"/>
          <a:lstStyle>
            <a:lvl1pPr algn="r">
              <a:defRPr sz="3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3259" y="3583036"/>
            <a:ext cx="6515101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7306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9" y="2000250"/>
            <a:ext cx="3657600" cy="2343151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7959" y="2000250"/>
            <a:ext cx="3657600" cy="2343150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38854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1961" y="1993900"/>
            <a:ext cx="3441698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9" y="2432447"/>
            <a:ext cx="3657600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32350" y="2000250"/>
            <a:ext cx="345321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7959" y="2432447"/>
            <a:ext cx="3657601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1663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14801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25684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2661841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7859" y="457201"/>
            <a:ext cx="4457701" cy="38862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2661841" cy="1371600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7222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4000501" cy="102870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75300" y="-13716"/>
            <a:ext cx="2457449" cy="517779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4000501" cy="1371600"/>
          </a:xfrm>
        </p:spPr>
        <p:txBody>
          <a:bodyPr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99409" y="4412457"/>
            <a:ext cx="685800" cy="273844"/>
          </a:xfr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56059" y="4412457"/>
            <a:ext cx="382905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6960" y="4412457"/>
            <a:ext cx="241925" cy="273844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90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3549649"/>
            <a:ext cx="7429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84709" y="699084"/>
            <a:ext cx="6169458" cy="2373732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60" y="3974702"/>
            <a:ext cx="7429500" cy="370284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250644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343149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696976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69029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2481436"/>
            <a:ext cx="7429500" cy="110160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3036"/>
            <a:ext cx="7429501" cy="6453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470984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914650"/>
            <a:ext cx="7429500" cy="6667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1400"/>
            <a:ext cx="7429500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78005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0573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628900"/>
            <a:ext cx="74295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948431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30979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7673" y="457200"/>
            <a:ext cx="1657886" cy="38862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9" y="457200"/>
            <a:ext cx="5657850" cy="38862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33826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6677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000250"/>
            <a:ext cx="7429499" cy="2343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28209" y="4412457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0" y="4412457"/>
            <a:ext cx="4133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97497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6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  <p:sldLayoutId id="2147483807" r:id="rId12"/>
    <p:sldLayoutId id="2147483808" r:id="rId13"/>
    <p:sldLayoutId id="2147483809" r:id="rId14"/>
    <p:sldLayoutId id="2147483810" r:id="rId15"/>
    <p:sldLayoutId id="2147483811" r:id="rId16"/>
    <p:sldLayoutId id="2147483812" r:id="rId17"/>
    <p:sldLayoutId id="2147483813" r:id="rId18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24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5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3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548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Fresh Fruit Detection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52B7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Transfer Learning (MobileNetV2)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2331720"/>
            <a:ext cx="4572000" cy="36576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265176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37360" y="26517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Anushka Marcelo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99923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37360" y="299923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 Part 1 | Semester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34670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37360" y="334670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 Business School, Goa University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69417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37360" y="36941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67904" y="91440"/>
            <a:ext cx="2014318" cy="256032"/>
          </a:xfrm>
          <a:prstGeom prst="roundRect">
            <a:avLst>
              <a:gd name="adj" fmla="val 13158"/>
            </a:avLst>
          </a:prstGeom>
          <a:solidFill>
            <a:srgbClr val="2C5282"/>
          </a:solidFill>
          <a:ln/>
        </p:spPr>
      </p:sp>
      <p:sp>
        <p:nvSpPr>
          <p:cNvPr id="15" name="Text 13"/>
          <p:cNvSpPr/>
          <p:nvPr/>
        </p:nvSpPr>
        <p:spPr>
          <a:xfrm>
            <a:off x="6644346" y="3657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67904" y="402336"/>
            <a:ext cx="2014318" cy="347472"/>
          </a:xfrm>
          <a:prstGeom prst="roundRect">
            <a:avLst>
              <a:gd name="adj" fmla="val 13158"/>
            </a:avLst>
          </a:prstGeom>
          <a:solidFill>
            <a:srgbClr val="276749"/>
          </a:solidFill>
          <a:ln/>
        </p:spPr>
      </p:sp>
      <p:sp>
        <p:nvSpPr>
          <p:cNvPr id="17" name="Text 15"/>
          <p:cNvSpPr/>
          <p:nvPr/>
        </p:nvSpPr>
        <p:spPr>
          <a:xfrm>
            <a:off x="6644346" y="40233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TensorFlow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54714" y="841248"/>
            <a:ext cx="2027508" cy="420448"/>
          </a:xfrm>
          <a:prstGeom prst="roundRect">
            <a:avLst>
              <a:gd name="adj" fmla="val 13158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6644346" y="86762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GPU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11">
            <a:extLst>
              <a:ext uri="{FF2B5EF4-FFF2-40B4-BE49-F238E27FC236}">
                <a16:creationId xmlns:a16="http://schemas.microsoft.com/office/drawing/2014/main" id="{1B305DAF-3B4B-7382-5A25-74D94DA157DA}"/>
              </a:ext>
            </a:extLst>
          </p:cNvPr>
          <p:cNvSpPr/>
          <p:nvPr/>
        </p:nvSpPr>
        <p:spPr>
          <a:xfrm>
            <a:off x="4709160" y="2770632"/>
            <a:ext cx="4023360" cy="141732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12700">
            <a:solidFill>
              <a:srgbClr val="E0E8E0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046720" y="91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4023360" cy="141732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12700">
            <a:solidFill>
              <a:srgbClr val="E0E8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527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Consuming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64592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is slow and cannot scale to industrial demands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143000"/>
            <a:ext cx="4023360" cy="141732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12700">
            <a:solidFill>
              <a:srgbClr val="E0E8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2527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Inconsistent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46320" y="164592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judgment varies — no standardized quality measure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788920"/>
            <a:ext cx="4023360" cy="141732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12700">
            <a:solidFill>
              <a:srgbClr val="E0E8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8986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Cross-Contamination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329184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detection causes rotten fruits to spoil fresh ones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8986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Loss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329184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lost annually due to undetected food spoilage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D8F3DC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4773168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An AI-powered automated system that detects fruit freshness instantly, consistently, and at scale.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046720" y="91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Fruits-360 Dataset (Kaggle)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28800" y="15544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sriramr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9019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Images: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90195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~13,000+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24942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Size: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224942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x 224 px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59689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59689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 / PNG (RGB)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9443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2944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 | 20% Val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1051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Classes in Dataset</a:t>
            </a:r>
            <a:endParaRPr lang="en-US" sz="16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4572000" y="1463040"/>
          <a:ext cx="42976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 — Transfer Learning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91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828800" cy="137160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457200" y="10241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447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Input Image</a:t>
            </a:r>
            <a:endParaRPr lang="en-US" sz="13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224×224 RGB</a:t>
            </a:r>
            <a:endParaRPr lang="en-US" sz="10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9" name="Text 7"/>
          <p:cNvSpPr/>
          <p:nvPr/>
        </p:nvSpPr>
        <p:spPr>
          <a:xfrm>
            <a:off x="2286000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606040" y="1005840"/>
            <a:ext cx="1828800" cy="137160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11" name="Text 9"/>
          <p:cNvSpPr/>
          <p:nvPr/>
        </p:nvSpPr>
        <p:spPr>
          <a:xfrm>
            <a:off x="2606040" y="10241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606040" y="14447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marL="0" indent="0" algn="ctr">
              <a:buNone/>
            </a:pPr>
            <a:r>
              <a:rPr lang="en-US" sz="1300" b="1" dirty="0">
                <a:ln/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</a:t>
            </a:r>
            <a:endParaRPr lang="en-US" sz="1300" b="1" dirty="0">
              <a:ln/>
              <a:solidFill>
                <a:schemeClr val="accent3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2606040" y="1783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</a:t>
            </a:r>
            <a:endParaRPr lang="en-US" sz="10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marL="0" indent="0" algn="ctr">
              <a:buNone/>
            </a:pPr>
            <a:r>
              <a:rPr lang="en-US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ImageNet</a:t>
            </a:r>
            <a:endParaRPr lang="en-US" sz="10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14" name="Text 12"/>
          <p:cNvSpPr/>
          <p:nvPr/>
        </p:nvSpPr>
        <p:spPr>
          <a:xfrm>
            <a:off x="4434840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754880" y="1005840"/>
            <a:ext cx="1828800" cy="137160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16" name="Text 14"/>
          <p:cNvSpPr/>
          <p:nvPr/>
        </p:nvSpPr>
        <p:spPr>
          <a:xfrm>
            <a:off x="4754880" y="10241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54880" y="14447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Custom Head</a:t>
            </a:r>
            <a:endParaRPr lang="en-US" sz="13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54880" y="1783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Dense + Dropout</a:t>
            </a:r>
            <a:endParaRPr lang="en-US" sz="10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marL="0" indent="0" algn="ctr">
              <a:buNone/>
            </a:pPr>
            <a:r>
              <a:rPr lang="en-US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0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19" name="Text 17"/>
          <p:cNvSpPr/>
          <p:nvPr/>
        </p:nvSpPr>
        <p:spPr>
          <a:xfrm>
            <a:off x="6583680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903720" y="1005840"/>
            <a:ext cx="1828800" cy="137160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21" name="Text 19"/>
          <p:cNvSpPr/>
          <p:nvPr/>
        </p:nvSpPr>
        <p:spPr>
          <a:xfrm>
            <a:off x="6903720" y="10241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903720" y="14447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6903720" y="1783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Fresh / Rotten</a:t>
            </a:r>
            <a:endParaRPr lang="en-US" sz="10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marL="0" indent="0" algn="ctr">
              <a:buNone/>
            </a:pPr>
            <a:r>
              <a:rPr lang="en-US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6 Classes</a:t>
            </a:r>
            <a:endParaRPr lang="en-US" sz="10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24" name="Text 22"/>
          <p:cNvSpPr/>
          <p:nvPr/>
        </p:nvSpPr>
        <p:spPr>
          <a:xfrm>
            <a:off x="365760" y="26060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MobileNetV2?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274320" y="3063240"/>
            <a:ext cx="4023360" cy="59436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310896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011680" y="3108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free Colab GPU without issues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3063240"/>
            <a:ext cx="4023360" cy="59436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10896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92240" y="3108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~95%+ accuracy on fruit classification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4320" y="3794760"/>
            <a:ext cx="4023360" cy="59436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32" name="Text 30"/>
          <p:cNvSpPr/>
          <p:nvPr/>
        </p:nvSpPr>
        <p:spPr>
          <a:xfrm>
            <a:off x="411480" y="3840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Pre-trained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011680" y="3840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 weights — already knows visual features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3794760"/>
            <a:ext cx="4023360" cy="59436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35" name="Text 33"/>
          <p:cNvSpPr/>
          <p:nvPr/>
        </p:nvSpPr>
        <p:spPr>
          <a:xfrm>
            <a:off x="4892040" y="3840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92240" y="3840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 separable convolutions save compute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Architecture &amp; Training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91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38404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MobileNetV2 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Pre-trained ImageNet (Frozen)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7×7×1280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Avg Pooling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Flatten spatial dimensions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(256, ReLU)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connected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 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(128, ReLU)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connected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 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(Softmax)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output classes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5669280" y="1005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Configuration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577840" y="1463040"/>
            <a:ext cx="3291840" cy="475488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8" name="Text 5"/>
          <p:cNvSpPr/>
          <p:nvPr/>
        </p:nvSpPr>
        <p:spPr>
          <a:xfrm>
            <a:off x="5623560" y="14813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8132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(lr=0.0001)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577840" y="2011680"/>
            <a:ext cx="329184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5623560" y="202996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903720" y="202996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Cross-Entropy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577840" y="2560320"/>
            <a:ext cx="3291840" cy="475488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23560" y="257860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903720" y="257860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20 (EarlyStopping)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577840" y="3108960"/>
            <a:ext cx="329184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5623560" y="312724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903720" y="312724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577840" y="3657600"/>
            <a:ext cx="3291840" cy="475488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23560" y="367588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Split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903720" y="367588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 / 20% Val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577840" y="4206240"/>
            <a:ext cx="329184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5623560" y="42245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03720" y="422452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EarlyStopping, ReduceLR,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ModelCheckpoint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Evaluation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046720" y="91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28016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6" name="Text 4"/>
          <p:cNvSpPr/>
          <p:nvPr/>
        </p:nvSpPr>
        <p:spPr>
          <a:xfrm>
            <a:off x="385618" y="1097280"/>
            <a:ext cx="16976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Georgia" pitchFamily="34" charset="0"/>
                <a:ea typeface="Georgia" pitchFamily="34" charset="-122"/>
                <a:cs typeface="Georgia" pitchFamily="34" charset="-120"/>
              </a:rPr>
              <a:t>95%+</a:t>
            </a:r>
            <a:endParaRPr lang="en-US" sz="3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1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8" name="Shape 6"/>
          <p:cNvSpPr/>
          <p:nvPr/>
        </p:nvSpPr>
        <p:spPr>
          <a:xfrm>
            <a:off x="2394989" y="1005840"/>
            <a:ext cx="1920240" cy="1280160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</p:sp>
      <p:sp>
        <p:nvSpPr>
          <p:cNvPr id="9" name="Text 7"/>
          <p:cNvSpPr/>
          <p:nvPr/>
        </p:nvSpPr>
        <p:spPr>
          <a:xfrm>
            <a:off x="2468880" y="109728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latin typeface="Georgia" pitchFamily="34" charset="0"/>
                <a:ea typeface="Georgia" pitchFamily="34" charset="-122"/>
                <a:cs typeface="Georgia" pitchFamily="34" charset="-120"/>
              </a:rPr>
              <a:t>93%+</a:t>
            </a:r>
            <a:endParaRPr lang="en-US" sz="3400" dirty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2468880" y="17373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Val Accuracy</a:t>
            </a:r>
            <a:endParaRPr lang="en-US" sz="11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20240" cy="128016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12" name="Text 10"/>
          <p:cNvSpPr/>
          <p:nvPr/>
        </p:nvSpPr>
        <p:spPr>
          <a:xfrm>
            <a:off x="4663440" y="109728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Georgia" pitchFamily="34" charset="0"/>
                <a:ea typeface="Georgia" pitchFamily="34" charset="-122"/>
                <a:cs typeface="Georgia" pitchFamily="34" charset="-120"/>
              </a:rPr>
              <a:t>&lt;0.2</a:t>
            </a:r>
            <a:endParaRPr lang="en-US" sz="3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63440" y="17373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Test Loss</a:t>
            </a:r>
            <a:endParaRPr lang="en-US" sz="11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90327" y="1005147"/>
            <a:ext cx="1920240" cy="128016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5" name="Text 13"/>
          <p:cNvSpPr/>
          <p:nvPr/>
        </p:nvSpPr>
        <p:spPr>
          <a:xfrm>
            <a:off x="6858000" y="109728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0" y="17373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Classes Detected</a:t>
            </a:r>
            <a:endParaRPr lang="en-US" sz="11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sp>
        <p:nvSpPr>
          <p:cNvPr id="17" name="Text 15"/>
          <p:cNvSpPr/>
          <p:nvPr/>
        </p:nvSpPr>
        <p:spPr>
          <a:xfrm>
            <a:off x="365760" y="24688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Comparison</a:t>
            </a:r>
            <a:endParaRPr lang="en-US" sz="15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274320" y="2834640"/>
          <a:ext cx="85953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Application — FreshSense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91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FreshSense Web App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4206240" cy="45720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572768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Works in any browser — no installation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084832"/>
            <a:ext cx="4206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2103120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Detects ANY fruit — not just trained classes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615184"/>
            <a:ext cx="4206240" cy="457200"/>
          </a:xfrm>
          <a:prstGeom prst="rect">
            <a:avLst/>
          </a:prstGeom>
          <a:solidFill>
            <a:srgbClr val="F4F6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411480" y="2633472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Powered by Google Gemini Vision AI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145536"/>
            <a:ext cx="4206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3163824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Shows confidence score, visual signs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3675888"/>
            <a:ext cx="4206240" cy="45720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3694176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Gives recommendations &amp; fruit facts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206240"/>
            <a:ext cx="4206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4224528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Mobile-friendly responsive design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1051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Colab Model vs Web App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495184"/>
              </p:ext>
            </p:extLst>
          </p:nvPr>
        </p:nvGraphicFramePr>
        <p:xfrm>
          <a:off x="4663440" y="1463040"/>
          <a:ext cx="4206240" cy="27432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Types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types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fruit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Code-based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friendly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based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AI(currently offline)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Future 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046720" y="91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1005840"/>
          </a:xfrm>
          <a:prstGeom prst="rect">
            <a:avLst/>
          </a:prstGeom>
          <a:solidFill>
            <a:srgbClr val="D8F3DC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7899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MobileNetV2 Transfer Learning model achieves 95%+ accuracy for fruit freshness detection — providing a fast, consistent, and scalable alternative to manual inspection, with real-world applications in agriculture and retail.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Improvements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" y="2606040"/>
            <a:ext cx="2697480" cy="960120"/>
          </a:xfrm>
          <a:prstGeom prst="rect">
            <a:avLst/>
          </a:prstGeom>
          <a:solidFill>
            <a:srgbClr val="F4F6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606040"/>
            <a:ext cx="2697480" cy="54864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71576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Mobile App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3081528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 for Android/iOS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23260" y="2606040"/>
            <a:ext cx="2697480" cy="960120"/>
          </a:xfrm>
          <a:prstGeom prst="rect">
            <a:avLst/>
          </a:prstGeom>
          <a:solidFill>
            <a:srgbClr val="F4F6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23260" y="2606040"/>
            <a:ext cx="2697480" cy="54864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3314700" y="271576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More Fruits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14700" y="3081528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mango, grapes, strawberry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749040"/>
            <a:ext cx="2697480" cy="960120"/>
          </a:xfrm>
          <a:prstGeom prst="rect">
            <a:avLst/>
          </a:prstGeom>
          <a:solidFill>
            <a:srgbClr val="F4F6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3749040"/>
            <a:ext cx="2697480" cy="54864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385876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YOLO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4224528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Multi-fruit detection in one image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46120" y="3766589"/>
            <a:ext cx="2697480" cy="960120"/>
          </a:xfrm>
          <a:prstGeom prst="rect">
            <a:avLst/>
          </a:prstGeom>
          <a:solidFill>
            <a:srgbClr val="F4F6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46120" y="3766589"/>
            <a:ext cx="2697480" cy="54864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0" name="Text 28"/>
          <p:cNvSpPr/>
          <p:nvPr/>
        </p:nvSpPr>
        <p:spPr>
          <a:xfrm>
            <a:off x="3337560" y="3876317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REST API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337560" y="4242077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retail systems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2743200" y="3017520"/>
            <a:ext cx="3657600" cy="36576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313445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Fruit Detection Using Transfer Learning (MobileNetV2)</a:t>
            </a:r>
            <a:endParaRPr lang="en-US" sz="120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328</TotalTime>
  <Words>503</Words>
  <Application>Microsoft Office PowerPoint</Application>
  <PresentationFormat>On-screen Show (16:9)</PresentationFormat>
  <Paragraphs>163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Century Gothic</vt:lpstr>
      <vt:lpstr>Georgia</vt:lpstr>
      <vt:lpstr>Mesh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 Fruit Detection Using Transfer Learning</dc:title>
  <dc:subject>PptxGenJS Presentation</dc:subject>
  <dc:creator>Anushka Marcelo</dc:creator>
  <cp:lastModifiedBy>marceloanushka@gmail.com</cp:lastModifiedBy>
  <cp:revision>6</cp:revision>
  <dcterms:created xsi:type="dcterms:W3CDTF">2026-04-29T14:34:00Z</dcterms:created>
  <dcterms:modified xsi:type="dcterms:W3CDTF">2026-04-30T19:07:07Z</dcterms:modified>
</cp:coreProperties>
</file>